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osario"/>
      <p:regular r:id="rId55"/>
      <p:bold r:id="rId56"/>
      <p:italic r:id="rId57"/>
      <p:boldItalic r:id="rId58"/>
    </p:embeddedFont>
    <p:embeddedFont>
      <p:font typeface="Rosario Medium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sarioMedium-boldItalic.fntdata"/><Relationship Id="rId61" Type="http://schemas.openxmlformats.org/officeDocument/2006/relationships/font" Target="fonts/RosarioMedium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sarioMedium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sario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sario-italic.fntdata"/><Relationship Id="rId12" Type="http://schemas.openxmlformats.org/officeDocument/2006/relationships/slide" Target="slides/slide7.xml"/><Relationship Id="rId56" Type="http://schemas.openxmlformats.org/officeDocument/2006/relationships/font" Target="fonts/Rosario-bold.fntdata"/><Relationship Id="rId15" Type="http://schemas.openxmlformats.org/officeDocument/2006/relationships/slide" Target="slides/slide10.xml"/><Relationship Id="rId59" Type="http://schemas.openxmlformats.org/officeDocument/2006/relationships/font" Target="fonts/RosarioMedium-regular.fntdata"/><Relationship Id="rId14" Type="http://schemas.openxmlformats.org/officeDocument/2006/relationships/slide" Target="slides/slide9.xml"/><Relationship Id="rId58" Type="http://schemas.openxmlformats.org/officeDocument/2006/relationships/font" Target="fonts/Rosari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fa40594a9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fa40594a9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2117e148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2117e148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fa40594a9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fa40594a9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2117e148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2117e14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117e148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117e148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2117e148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2117e148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a40594a9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fa40594a9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fa40594a9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fa40594a9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fa40594a9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fa40594a9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fa40594a9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fa40594a9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fa40594a9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fa40594a9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fa40594a9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fa40594a9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fa40594a9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fa40594a9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fa40594a9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fa40594a9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a40594a9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fa40594a9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fa40594a9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fa40594a9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fa40594a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fa40594a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fa40594a9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fa40594a9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fa40594a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fa40594a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fa40594a9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fa40594a9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fa40594a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fa40594a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fa40594a9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cfa40594a9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fa40594a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fa40594a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fa40594a9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fa40594a9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fa40594a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fa40594a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fa40594a9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fa40594a9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fa40594a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cfa40594a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fa40594a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cfa40594a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fa40594a9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fa40594a9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fa40594a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cfa40594a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fa40594a9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cfa40594a9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fa40594a9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fa40594a9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fa40594a9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fa40594a9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fa40594a9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fa40594a9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2117e148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2117e148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2117e148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d2117e148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2117e148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2117e148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2117e148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d2117e148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2117e148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d2117e148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2117e148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d2117e148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2117e148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2117e148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2117e148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d2117e148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2117e148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d2117e148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2117e1488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d2117e148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2117e1488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2117e1488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2117e148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2117e148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2117e1488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2117e148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2117e1488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d2117e148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sario Medium"/>
                <a:ea typeface="Rosario Medium"/>
                <a:cs typeface="Rosario Medium"/>
                <a:sym typeface="Rosario Medium"/>
              </a:rPr>
              <a:t>Understanding Psychological Pressure in Sport</a:t>
            </a:r>
            <a:endParaRPr>
              <a:latin typeface="Rosario Medium"/>
              <a:ea typeface="Rosario Medium"/>
              <a:cs typeface="Rosario Medium"/>
              <a:sym typeface="Rosario Medium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sario Medium"/>
                <a:ea typeface="Rosario Medium"/>
                <a:cs typeface="Rosario Medium"/>
                <a:sym typeface="Rosario Medium"/>
              </a:rPr>
              <a:t>Month 1 - Week 1</a:t>
            </a:r>
            <a:endParaRPr>
              <a:latin typeface="Rosario Medium"/>
              <a:ea typeface="Rosario Medium"/>
              <a:cs typeface="Rosario Medium"/>
              <a:sym typeface="Rosario Medium"/>
            </a:endParaRPr>
          </a:p>
        </p:txBody>
      </p:sp>
      <p:pic>
        <p:nvPicPr>
          <p:cNvPr id="56" name="Google Shape;56;p13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75" y="170925"/>
            <a:ext cx="1866824" cy="10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58725" y="170925"/>
            <a:ext cx="49431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osario"/>
                <a:ea typeface="Rosario"/>
                <a:cs typeface="Rosario"/>
                <a:sym typeface="Rosario"/>
              </a:rPr>
              <a:t>Social Psychology - Instagram </a:t>
            </a:r>
            <a:endParaRPr b="1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62" name="Google Shape;62;p14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75" y="170925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65550" y="950400"/>
            <a:ext cx="2447100" cy="38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lang="en-GB" sz="1100">
                <a:solidFill>
                  <a:schemeClr val="dk1"/>
                </a:solidFill>
              </a:rPr>
              <a:t>Why can you score every goal or point in training but drop short in a county final?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It’s not just skill.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It’s not just fitness.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When the stakes are higher, your mind knows it. So instead of playing freely…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you start </a:t>
            </a:r>
            <a:r>
              <a:rPr b="1" lang="en-GB" sz="1100">
                <a:solidFill>
                  <a:schemeClr val="dk1"/>
                </a:solidFill>
              </a:rPr>
              <a:t>thinking about the shot</a:t>
            </a:r>
            <a:r>
              <a:rPr lang="en-GB" sz="1100">
                <a:solidFill>
                  <a:schemeClr val="dk1"/>
                </a:solidFill>
              </a:rPr>
              <a:t> instead of </a:t>
            </a:r>
            <a:r>
              <a:rPr i="1" lang="en-GB" sz="1100">
                <a:solidFill>
                  <a:schemeClr val="dk1"/>
                </a:solidFill>
              </a:rPr>
              <a:t>taking it 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It’s Psychology 🧠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424550" y="950400"/>
            <a:ext cx="2939400" cy="45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🧠 </a:t>
            </a:r>
            <a:r>
              <a:rPr b="1" lang="en-GB" sz="900">
                <a:solidFill>
                  <a:schemeClr val="dk1"/>
                </a:solidFill>
              </a:rPr>
              <a:t>Social Psychology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Social psychology looks at how other people influence our thoughts, feelings, and behaviour. That might look like: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✅ Positive influences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Lifting your work rate after a big turnover because the bench erupts behind you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Gaining confidence after a teammate pats you on the backs with a simple “you’ve got this” when taking a free.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⚠️ Negative influences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Losing confidence after a teammate reacts negatively to a mistake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Rushing decisions when opponents are constantly pressuring and crowding you on the ball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➡️ </a:t>
            </a:r>
            <a:r>
              <a:rPr b="1" lang="en-GB" sz="900">
                <a:solidFill>
                  <a:schemeClr val="dk1"/>
                </a:solidFill>
              </a:rPr>
              <a:t>People affect performance.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📚 Based on Gordon Allport (1954)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364050" y="873450"/>
            <a:ext cx="3000000" cy="3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👥 </a:t>
            </a:r>
            <a:r>
              <a:rPr b="1" lang="en-GB" sz="1100">
                <a:solidFill>
                  <a:schemeClr val="dk1"/>
                </a:solidFill>
              </a:rPr>
              <a:t>Social Groups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 </a:t>
            </a:r>
            <a:r>
              <a:rPr b="1" lang="en-GB" sz="1100">
                <a:solidFill>
                  <a:schemeClr val="dk1"/>
                </a:solidFill>
              </a:rPr>
              <a:t>social group</a:t>
            </a:r>
            <a:r>
              <a:rPr lang="en-GB" sz="1100">
                <a:solidFill>
                  <a:schemeClr val="dk1"/>
                </a:solidFill>
              </a:rPr>
              <a:t> is a group of people who: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See themselves as part of the same team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Feel connected to each other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Care about the group’s success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 LGFA that could be: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Your club team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🏆 Your county squad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It becomes part of </a:t>
            </a:r>
            <a:r>
              <a:rPr b="1" lang="en-GB" sz="1100">
                <a:solidFill>
                  <a:schemeClr val="dk1"/>
                </a:solidFill>
              </a:rPr>
              <a:t>who you are.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Tajfel &amp; Turner (1986)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73125" y="373338"/>
            <a:ext cx="47247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latin typeface="Rosario"/>
                <a:ea typeface="Rosario"/>
                <a:cs typeface="Rosario"/>
                <a:sym typeface="Rosario"/>
              </a:rPr>
              <a:t>Social Psychology - Instagram </a:t>
            </a:r>
            <a:endParaRPr b="1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71" name="Google Shape;71;p15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75" y="170925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73125" y="113465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❤️ </a:t>
            </a:r>
            <a:r>
              <a:rPr b="1" lang="en-GB" sz="1100">
                <a:solidFill>
                  <a:schemeClr val="dk1"/>
                </a:solidFill>
              </a:rPr>
              <a:t>Why this matters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Feeling like you belong to a team can: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Increase motivation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Build confidence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Improve performance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That’s why </a:t>
            </a:r>
            <a:r>
              <a:rPr b="1" lang="en-GB" sz="1100">
                <a:solidFill>
                  <a:schemeClr val="dk1"/>
                </a:solidFill>
              </a:rPr>
              <a:t>team culture matters so much.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856450" y="122975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 (Engagement Slide)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Ladies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Gaelic football question…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When do you feel </a:t>
            </a:r>
            <a:r>
              <a:rPr b="1" lang="en-GB" sz="1100">
                <a:solidFill>
                  <a:schemeClr val="dk1"/>
                </a:solidFill>
              </a:rPr>
              <a:t>most connected to your team?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When you win a game? 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🔥 After a big score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💪 During tough 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Tell us below #MindTheGael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273125" y="373350"/>
            <a:ext cx="61536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latin typeface="Rosario"/>
                <a:ea typeface="Rosario"/>
                <a:cs typeface="Rosario"/>
                <a:sym typeface="Rosario"/>
              </a:rPr>
              <a:t>SIT &amp; SCT - Instagram </a:t>
            </a:r>
            <a:endParaRPr b="1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79" name="Google Shape;79;p16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75" y="170925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273125" y="1134650"/>
            <a:ext cx="3000000" cy="3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Slide 1 – Cover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Title: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b="1" lang="en-GB" sz="1100">
                <a:solidFill>
                  <a:schemeClr val="dk1"/>
                </a:solidFill>
              </a:rPr>
              <a:t>How Identity Shapes Performance in Sport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Subtitle: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Social Identity Theory + Self-Categorization Theory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Hook: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It’s not just how you play…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It’s who you believe you are on the team.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587525" y="1076125"/>
            <a:ext cx="20784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Slide 2 – The Core Idea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You Are More Than Just “You”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In sport, players don’t just act as individuals.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They think and perform as part of a group.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“I” → Personal identity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“We” → Team identity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Key Point: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The stronger the “we”… the stronger the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426725" y="1282875"/>
            <a:ext cx="2669100" cy="4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Slide 3 – Self-Categorization (SCT)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Who Am I Right Now?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Players shift identity depending on the situation: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Individual → skills, position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Team → “I’m part of this squad”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Bigger picture → athlete, competitor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Performance Impact: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When the </a:t>
            </a:r>
            <a:r>
              <a:rPr i="1" lang="en-GB" sz="1100">
                <a:solidFill>
                  <a:schemeClr val="dk1"/>
                </a:solidFill>
              </a:rPr>
              <a:t>team identity is strongest</a:t>
            </a:r>
            <a:r>
              <a:rPr lang="en-GB" sz="1100">
                <a:solidFill>
                  <a:schemeClr val="dk1"/>
                </a:solidFill>
              </a:rPr>
              <a:t> →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 More effort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 Better decisions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 Higher confidence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73125" y="373350"/>
            <a:ext cx="55440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latin typeface="Rosario"/>
                <a:ea typeface="Rosario"/>
                <a:cs typeface="Rosario"/>
                <a:sym typeface="Rosario"/>
              </a:rPr>
              <a:t>SIT &amp; SCT - Instagram </a:t>
            </a:r>
            <a:endParaRPr b="1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88" name="Google Shape;88;p17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75" y="170925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273125" y="1134650"/>
            <a:ext cx="3000000" cy="4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Slide 4 – Social Identity (SIT)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Why the Team Matters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We define ourselves by the groups we belong to.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Teams become “us”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Opponents become “them”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Performance Impact: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 Stronger motivation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 Greater pride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 Fear of letting the team down (in a good way)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273125" y="1134650"/>
            <a:ext cx="3000000" cy="4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Slide 5 – What This Means on the Pitch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Identity Drives Behaviour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When players feel part of the team: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They match team standards (effort, attitude)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They support teammates more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They handle pressure better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Confidence grows: “If she can, I can”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Simple Truth: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Team identity → Better teamwork → Better performance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273125" y="1303550"/>
            <a:ext cx="3000000" cy="3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– Takeaway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Your Identity Is Your Advantage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If you want to perform better: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Think “we” not just “me”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Own your role in the team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Lean into team standards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 your teammates to build confidence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Final Line: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You don’t just play for the team…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You are the team.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n-GB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273125" y="373350"/>
            <a:ext cx="55440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latin typeface="Rosario"/>
                <a:ea typeface="Rosario"/>
                <a:cs typeface="Rosario"/>
                <a:sym typeface="Rosario"/>
              </a:rPr>
              <a:t>IPO Model </a:t>
            </a:r>
            <a:r>
              <a:rPr b="1" lang="en-GB">
                <a:latin typeface="Rosario"/>
                <a:ea typeface="Rosario"/>
                <a:cs typeface="Rosario"/>
                <a:sym typeface="Rosario"/>
              </a:rPr>
              <a:t>- Instagram </a:t>
            </a:r>
            <a:endParaRPr b="1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97" name="Google Shape;97;p18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75" y="170925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273125" y="1134650"/>
            <a:ext cx="30000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– Cover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Title: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How Teams Perform: The IPO Model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Subtitle: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Input – Process – Outcome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Hook: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Winning isn’t just about talent…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It’s about how your team works together.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273125" y="1134650"/>
            <a:ext cx="3000000" cy="3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 – The Model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The Big Picture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Team performance comes from 3 things: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Inputs</a:t>
            </a:r>
            <a:r>
              <a:rPr lang="en-GB" sz="1100">
                <a:solidFill>
                  <a:schemeClr val="dk1"/>
                </a:solidFill>
              </a:rPr>
              <a:t> → What you bring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Processes</a:t>
            </a:r>
            <a:r>
              <a:rPr lang="en-GB" sz="1100">
                <a:solidFill>
                  <a:schemeClr val="dk1"/>
                </a:solidFill>
              </a:rPr>
              <a:t> → How you work together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Outcomes</a:t>
            </a:r>
            <a:r>
              <a:rPr lang="en-GB" sz="1100">
                <a:solidFill>
                  <a:schemeClr val="dk1"/>
                </a:solidFill>
              </a:rPr>
              <a:t> → What you achieve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Point: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Great teams don’t just have talent—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they use it effectively.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6273125" y="1303550"/>
            <a:ext cx="3000000" cy="4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 – Inputs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What You Bring to the Team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Skill &amp; fitness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Experience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Roles &amp; positions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Leadership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Team culture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 Ladies Gaelic Football: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Strong squads = mix of talent, clarity, and leadership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Message: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Preparation sets the ceiling for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br>
              <a:rPr b="1" lang="en-GB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273125" y="373350"/>
            <a:ext cx="55440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latin typeface="Rosario"/>
                <a:ea typeface="Rosario"/>
                <a:cs typeface="Rosario"/>
                <a:sym typeface="Rosario"/>
              </a:rPr>
              <a:t>IPO Model - Instagram </a:t>
            </a:r>
            <a:endParaRPr b="1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06" name="Google Shape;106;p19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75" y="170925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273125" y="1134650"/>
            <a:ext cx="3000000" cy="46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 – Processes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How the Team Functions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Communication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Decision-making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Work rate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Trust &amp; cohesion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Leadership on the pitch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 a Game: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Talking, supporting runs, organizing defense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Message: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This is where games are </a:t>
            </a:r>
            <a:r>
              <a:rPr i="1" lang="en-GB" sz="1100">
                <a:solidFill>
                  <a:schemeClr val="dk1"/>
                </a:solidFill>
              </a:rPr>
              <a:t>won or lost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273125" y="1134650"/>
            <a:ext cx="3000000" cy="3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 – Outcomes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What You 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Match results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Player confidence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Team cohesion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Motivation &amp; enjoyment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Player development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Message: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Success isn’t just winning—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it’s how the team grows.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6273125" y="1303550"/>
            <a:ext cx="3000000" cy="3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– Takeaway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Heading: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Put It All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Content: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Talent alone isn’t enough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Teamwork turns inputs into success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Every player impacts the process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Final Line: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Better habits → Better teamwork → Better results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42025" y="164325"/>
            <a:ext cx="7083600" cy="7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Team Performance - The Input–Process–Outcome Framework </a:t>
            </a: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(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McGrath’s 1964)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15" name="Google Shape;115;p20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142025" y="1017725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Why do some teams perform better than others?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It’s not just talent.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Psychology suggests performance depends on </a:t>
            </a:r>
            <a:r>
              <a:rPr b="1" lang="en-GB" sz="1100">
                <a:solidFill>
                  <a:schemeClr val="dk1"/>
                </a:solidFill>
              </a:rPr>
              <a:t>three things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Input → Process → Outcome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Let’s break it down 👇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026150" y="1017725"/>
            <a:ext cx="3000000" cy="3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🧩 </a:t>
            </a:r>
            <a:r>
              <a:rPr b="1" lang="en-GB" sz="1100">
                <a:solidFill>
                  <a:schemeClr val="dk1"/>
                </a:solidFill>
              </a:rPr>
              <a:t>1. Inputs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Inputs are the </a:t>
            </a:r>
            <a:r>
              <a:rPr b="1" lang="en-GB" sz="1100">
                <a:solidFill>
                  <a:schemeClr val="dk1"/>
                </a:solidFill>
              </a:rPr>
              <a:t>things a team starts with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 Ladies Gaelic football this could include: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Player skill levels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Coaching style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Team experience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Training environment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Basically: </a:t>
            </a:r>
            <a:r>
              <a:rPr b="1" lang="en-GB" sz="1100">
                <a:solidFill>
                  <a:schemeClr val="dk1"/>
                </a:solidFill>
              </a:rPr>
              <a:t>what the team brings into the season or match.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McGrath (1964)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6026150" y="1431150"/>
            <a:ext cx="30000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🔄 </a:t>
            </a:r>
            <a:r>
              <a:rPr b="1" lang="en-GB" sz="1100">
                <a:solidFill>
                  <a:schemeClr val="dk1"/>
                </a:solidFill>
              </a:rPr>
              <a:t>2. Process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Processes are </a:t>
            </a:r>
            <a:r>
              <a:rPr b="1" lang="en-GB" sz="1100">
                <a:solidFill>
                  <a:schemeClr val="dk1"/>
                </a:solidFill>
              </a:rPr>
              <a:t>how the team works together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Examples in LGFA: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Communication on the pitch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Team support and trust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Leadership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Decision-making in matches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This is </a:t>
            </a:r>
            <a:r>
              <a:rPr b="1" lang="en-GB" sz="1100">
                <a:solidFill>
                  <a:schemeClr val="dk1"/>
                </a:solidFill>
              </a:rPr>
              <a:t>how the team functions together.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108275" y="165300"/>
            <a:ext cx="6847200" cy="8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Team Performance - </a:t>
            </a: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The Input–Process–Outcome Framework (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McGrath’s 1964)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24" name="Google Shape;124;p21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54625" y="1168950"/>
            <a:ext cx="30000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🏆 </a:t>
            </a:r>
            <a:r>
              <a:rPr b="1" lang="en-GB" sz="1100">
                <a:solidFill>
                  <a:schemeClr val="dk1"/>
                </a:solidFill>
              </a:rPr>
              <a:t>3. Outcomes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Outcomes are </a:t>
            </a:r>
            <a:r>
              <a:rPr b="1" lang="en-GB" sz="1100">
                <a:solidFill>
                  <a:schemeClr val="dk1"/>
                </a:solidFill>
              </a:rPr>
              <a:t>what the team produces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Match results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Team satisfaction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Player development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Confidence and morale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Outcomes show </a:t>
            </a:r>
            <a:r>
              <a:rPr b="1" lang="en-GB" sz="1100">
                <a:solidFill>
                  <a:schemeClr val="dk1"/>
                </a:solidFill>
              </a:rPr>
              <a:t>how well the team performed.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2840425" y="1168950"/>
            <a:ext cx="30000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 successful team isn’t just about </a:t>
            </a:r>
            <a:r>
              <a:rPr b="1" lang="en-GB" sz="1100">
                <a:solidFill>
                  <a:schemeClr val="dk1"/>
                </a:solidFill>
              </a:rPr>
              <a:t>great players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It’s about: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The right </a:t>
            </a:r>
            <a:r>
              <a:rPr b="1" lang="en-GB" sz="1100">
                <a:solidFill>
                  <a:schemeClr val="dk1"/>
                </a:solidFill>
              </a:rPr>
              <a:t>inputs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Strong team </a:t>
            </a:r>
            <a:r>
              <a:rPr b="1" lang="en-GB" sz="1100">
                <a:solidFill>
                  <a:schemeClr val="dk1"/>
                </a:solidFill>
              </a:rPr>
              <a:t>processes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Positive </a:t>
            </a:r>
            <a:r>
              <a:rPr b="1" lang="en-GB" sz="1100">
                <a:solidFill>
                  <a:schemeClr val="dk1"/>
                </a:solidFill>
              </a:rPr>
              <a:t>outcomes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That’s the psychology behind team performance.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5637150" y="1407350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Think about your team…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Which matters most?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Inputs – player talent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🤝 Processes – teamwork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🏆 Outcomes – results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6085075" y="44026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McGrath, J. E. (1964). </a:t>
            </a:r>
            <a:r>
              <a:rPr i="1" lang="en-GB" sz="1100">
                <a:solidFill>
                  <a:schemeClr val="dk1"/>
                </a:solidFill>
              </a:rPr>
              <a:t>Social psychology: A brief introduction</a:t>
            </a:r>
            <a:r>
              <a:rPr lang="en-GB" sz="1100">
                <a:solidFill>
                  <a:schemeClr val="dk1"/>
                </a:solidFill>
              </a:rPr>
              <a:t>. New York: Holt, Rinehart &amp; Winston.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445025"/>
            <a:ext cx="6680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Social Facilitation &amp; Inhibition - Drive Theory of Social Facilitation 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(Zajonc, 1965).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34" name="Google Shape;134;p22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98325" y="1409300"/>
            <a:ext cx="30000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Why do some players thrive in front of a crowd…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…but others suddenly make mistakes?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Sports psychology calls this: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Social Facilitation &amp; Social Inhibition</a:t>
            </a:r>
            <a:r>
              <a:rPr lang="en-GB" sz="1100">
                <a:solidFill>
                  <a:schemeClr val="dk1"/>
                </a:solidFill>
              </a:rPr>
              <a:t> 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3072000" y="1429700"/>
            <a:ext cx="30000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Social Facilitation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happens when </a:t>
            </a:r>
            <a:r>
              <a:rPr b="1" lang="en-GB" sz="1100">
                <a:solidFill>
                  <a:schemeClr val="dk1"/>
                </a:solidFill>
              </a:rPr>
              <a:t>the presence of others improves performance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 Ladies Gaelic football this might look like: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Kicking points confidently in front of supporters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Running harder when teammates are watching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Performing better in big matches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The crowd boosts performance.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6144000" y="1450100"/>
            <a:ext cx="30000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😬 </a:t>
            </a:r>
            <a:r>
              <a:rPr b="1" lang="en-GB" sz="1100">
                <a:solidFill>
                  <a:schemeClr val="dk1"/>
                </a:solidFill>
              </a:rPr>
              <a:t>Social Inhibition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Sometimes the opposite happens.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Performance can </a:t>
            </a:r>
            <a:r>
              <a:rPr b="1" lang="en-GB" sz="1100">
                <a:solidFill>
                  <a:schemeClr val="dk1"/>
                </a:solidFill>
              </a:rPr>
              <a:t>decrease when people are watching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Missing a free in a big game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Nervous decision-making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Overthinking simple skills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Pressure can disrupt performance.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6680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Social Facilitation &amp; Inhibition - Drive Theory of Social Facilitation 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(Zajonc, 1965).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43" name="Google Shape;143;p23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131100" y="1260775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Drive Theory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According to </a:t>
            </a:r>
            <a:r>
              <a:rPr b="1" lang="en-GB" sz="1100">
                <a:solidFill>
                  <a:schemeClr val="dk1"/>
                </a:solidFill>
              </a:rPr>
              <a:t>Zajonc (1965)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presence of others </a:t>
            </a:r>
            <a:r>
              <a:rPr b="1" lang="en-GB" sz="1100">
                <a:solidFill>
                  <a:schemeClr val="dk1"/>
                </a:solidFill>
              </a:rPr>
              <a:t>increases arousal (energy/excitement)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means: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</a:t>
            </a:r>
            <a:r>
              <a:rPr b="1" lang="en-GB" sz="1100">
                <a:solidFill>
                  <a:schemeClr val="dk1"/>
                </a:solidFill>
              </a:rPr>
              <a:t>Well-learned skills improve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</a:t>
            </a:r>
            <a:r>
              <a:rPr b="1" lang="en-GB" sz="1100">
                <a:solidFill>
                  <a:schemeClr val="dk1"/>
                </a:solidFill>
              </a:rPr>
              <a:t>New or difficult skills get worse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004300" y="1310700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What this means in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When the crowd is watching: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Experienced players may: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🔥 perform even better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But newer players may: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😬 feel pressure and make mistakes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Practice and confidence matter.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5866575" y="1573150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question…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Do you play better when people are watching?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Yes – it motivates me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😅 No – it makes me nervous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Tell us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6074150" y="4544675"/>
            <a:ext cx="300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Zajonc, R. B. (1965). </a:t>
            </a:r>
            <a:r>
              <a:rPr i="1" lang="en-GB" sz="1100">
                <a:solidFill>
                  <a:schemeClr val="dk1"/>
                </a:solidFill>
              </a:rPr>
              <a:t>Social facilitation</a:t>
            </a:r>
            <a:r>
              <a:rPr lang="en-GB" sz="1100">
                <a:solidFill>
                  <a:schemeClr val="dk1"/>
                </a:solidFill>
              </a:rPr>
              <a:t>. Science, 149(3681), 269–274.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6680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Distraction Conflict Theory 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(Baron, Moore, &amp; Sanders, 1978).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53" name="Google Shape;153;p24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131100" y="1453000"/>
            <a:ext cx="30000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been distracted during a match?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Maybe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The crowd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The referee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Teammates shouting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The opposition bench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Sports psychology explains this with </a:t>
            </a:r>
            <a:r>
              <a:rPr b="1" lang="en-GB" sz="1100">
                <a:solidFill>
                  <a:schemeClr val="dk1"/>
                </a:solidFill>
              </a:rPr>
              <a:t>Distraction–Conflict Theory</a:t>
            </a:r>
            <a:r>
              <a:rPr lang="en-GB" sz="1100">
                <a:solidFill>
                  <a:schemeClr val="dk1"/>
                </a:solidFill>
              </a:rPr>
              <a:t> 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3072000" y="1278700"/>
            <a:ext cx="30000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is Distraction–Conflict Theory?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theory suggests that </a:t>
            </a:r>
            <a:r>
              <a:rPr b="1" lang="en-GB" sz="1100">
                <a:solidFill>
                  <a:schemeClr val="dk1"/>
                </a:solidFill>
              </a:rPr>
              <a:t>other people can divide our attention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When this happens we experience </a:t>
            </a:r>
            <a:r>
              <a:rPr b="1" lang="en-GB" sz="1100">
                <a:solidFill>
                  <a:schemeClr val="dk1"/>
                </a:solidFill>
              </a:rPr>
              <a:t>attentional conflict</a:t>
            </a:r>
            <a:r>
              <a:rPr lang="en-GB" sz="1100">
                <a:solidFill>
                  <a:schemeClr val="dk1"/>
                </a:solidFill>
              </a:rPr>
              <a:t> between: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👀 focusing on the task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vs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👥 paying attention to others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Baron, Moore &amp; Sanders (1978)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6144000" y="1453000"/>
            <a:ext cx="30000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this matters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When attention is divided: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Our </a:t>
            </a:r>
            <a:r>
              <a:rPr b="1" lang="en-GB" sz="1100">
                <a:solidFill>
                  <a:schemeClr val="dk1"/>
                </a:solidFill>
              </a:rPr>
              <a:t>mental arousal increases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can lead to: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Better performance on simple tasks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Worse performance on difficult tasks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6680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Distraction Conflict Theory 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(Baron, Moore, &amp; Sanders, 1978).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62" name="Google Shape;162;p25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152950" y="138765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Examples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Distraction during matches might come from: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Supporters shouting from the sideline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Coaches giving instructions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Opponents trying to put you off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Thinking about the scoreline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Your attention gets split.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152950" y="1387650"/>
            <a:ext cx="30000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good players do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Experienced players learn to: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Focus on the task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Ignore distractions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Stay present in the moment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Attention control is a skill.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5593475" y="1448013"/>
            <a:ext cx="30000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What distracts you the most during a game?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👥 The crowd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📣 Sideline instructions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⚔️ Opponents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🧠 Overthinking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4828725" y="4400100"/>
            <a:ext cx="42453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Baron, R. S., Moore, D. L., &amp; Sanders, G. S. (1978).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Distraction as a source of drive in social facilitation research.</a:t>
            </a:r>
            <a:r>
              <a:rPr lang="en-GB" sz="1100">
                <a:solidFill>
                  <a:schemeClr val="dk1"/>
                </a:solidFill>
              </a:rPr>
              <a:t> Journal of Personality and Social Psychology, 36(8), 816–824.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6680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Ringelmann effect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 (Ringelmann, 1913)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72" name="Google Shape;172;p26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174800" y="1409300"/>
            <a:ext cx="30000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noticed this in team sports?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</a:t>
            </a:r>
            <a:r>
              <a:rPr b="1" lang="en-GB" sz="1100">
                <a:solidFill>
                  <a:schemeClr val="dk1"/>
                </a:solidFill>
              </a:rPr>
              <a:t>bigger the group…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sometimes the </a:t>
            </a:r>
            <a:r>
              <a:rPr b="1" lang="en-GB" sz="1100">
                <a:solidFill>
                  <a:schemeClr val="dk1"/>
                </a:solidFill>
              </a:rPr>
              <a:t>less effort individuals give.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Sports psychology calls this: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The Ringelmann Effect</a:t>
            </a:r>
            <a:r>
              <a:rPr lang="en-GB" sz="1100">
                <a:solidFill>
                  <a:schemeClr val="dk1"/>
                </a:solidFill>
              </a:rPr>
              <a:t> 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3072000" y="1310975"/>
            <a:ext cx="30000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is the Ringelmann Effect?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</a:t>
            </a:r>
            <a:r>
              <a:rPr b="1" lang="en-GB" sz="1100">
                <a:solidFill>
                  <a:schemeClr val="dk1"/>
                </a:solidFill>
              </a:rPr>
              <a:t>Ringelmann Effect</a:t>
            </a:r>
            <a:r>
              <a:rPr lang="en-GB" sz="1100">
                <a:solidFill>
                  <a:schemeClr val="dk1"/>
                </a:solidFill>
              </a:rPr>
              <a:t> suggests that </a:t>
            </a:r>
            <a:r>
              <a:rPr b="1" lang="en-GB" sz="1100">
                <a:solidFill>
                  <a:schemeClr val="dk1"/>
                </a:solidFill>
              </a:rPr>
              <a:t>individual effort decreases as group size increases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 other words: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more people involved in a task,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the </a:t>
            </a:r>
            <a:r>
              <a:rPr b="1" lang="en-GB" sz="1100">
                <a:solidFill>
                  <a:schemeClr val="dk1"/>
                </a:solidFill>
              </a:rPr>
              <a:t>less effort each person may contribute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Ringelmann (1913)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5986875" y="1507625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does this happen?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Two main reasons: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1️⃣ </a:t>
            </a:r>
            <a:r>
              <a:rPr b="1" lang="en-GB" sz="1100">
                <a:solidFill>
                  <a:schemeClr val="dk1"/>
                </a:solidFill>
              </a:rPr>
              <a:t>Loss of motivation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People feel their effort is </a:t>
            </a:r>
            <a:r>
              <a:rPr b="1" lang="en-GB" sz="1100">
                <a:solidFill>
                  <a:schemeClr val="dk1"/>
                </a:solidFill>
              </a:rPr>
              <a:t>less noticeable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2️⃣ </a:t>
            </a:r>
            <a:r>
              <a:rPr b="1" lang="en-GB" sz="1100">
                <a:solidFill>
                  <a:schemeClr val="dk1"/>
                </a:solidFill>
              </a:rPr>
              <a:t>Coordination problems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It becomes harder for everyone to work together effectively.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445025"/>
            <a:ext cx="6680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Ringelmann effect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 (Ringelmann, 1913)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81" name="Google Shape;181;p27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 txBox="1"/>
          <p:nvPr/>
        </p:nvSpPr>
        <p:spPr>
          <a:xfrm>
            <a:off x="135400" y="1387650"/>
            <a:ext cx="30000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Examples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might show up as: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Players assuming someone else will track back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Less communication on the pitch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Players relying too much on stronger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Effort can drop when responsibility feels shared.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3135400" y="138765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How strong teams avoid this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Great teams reduce the Ringelmann Effect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Clear roles for players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Strong team accountability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Communication on the pitch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Everyone knows their job.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5986875" y="1584075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Team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What helps players give </a:t>
            </a:r>
            <a:r>
              <a:rPr b="1" lang="en-GB" sz="1100">
                <a:solidFill>
                  <a:schemeClr val="dk1"/>
                </a:solidFill>
              </a:rPr>
              <a:t>100% effort</a:t>
            </a:r>
            <a:r>
              <a:rPr lang="en-GB" sz="1100">
                <a:solidFill>
                  <a:schemeClr val="dk1"/>
                </a:solidFill>
              </a:rPr>
              <a:t>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Team leadership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🗣 Communication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💪 Accountability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Tell us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6052425" y="4145250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Ringelmann, M. (1913). </a:t>
            </a:r>
            <a:r>
              <a:rPr i="1" lang="en-GB" sz="1100">
                <a:solidFill>
                  <a:schemeClr val="dk1"/>
                </a:solidFill>
              </a:rPr>
              <a:t>Research on animate sources of power: The work of man.</a:t>
            </a:r>
            <a:r>
              <a:rPr lang="en-GB" sz="1100">
                <a:solidFill>
                  <a:schemeClr val="dk1"/>
                </a:solidFill>
              </a:rPr>
              <a:t> Annales de l'Institut National Agronomique, 12, 1–40.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445025"/>
            <a:ext cx="6680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Social Loafing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 (Latané, Williams, &amp; Harkins, 1979).</a:t>
            </a:r>
            <a:endParaRPr sz="2100">
              <a:solidFill>
                <a:schemeClr val="dk2"/>
              </a:solidFill>
              <a:latin typeface="Rosario"/>
              <a:ea typeface="Rosario"/>
              <a:cs typeface="Rosario"/>
              <a:sym typeface="Rosario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191" name="Google Shape;191;p28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 txBox="1"/>
          <p:nvPr/>
        </p:nvSpPr>
        <p:spPr>
          <a:xfrm>
            <a:off x="65550" y="1147100"/>
            <a:ext cx="30000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noticed this in team sport?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When players work in a group…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some people may </a:t>
            </a:r>
            <a:r>
              <a:rPr b="1" lang="en-GB" sz="1100">
                <a:solidFill>
                  <a:schemeClr val="dk1"/>
                </a:solidFill>
              </a:rPr>
              <a:t>put in less effort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Sports psychology calls this: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Social Loafing</a:t>
            </a:r>
            <a:r>
              <a:rPr lang="en-GB" sz="1100">
                <a:solidFill>
                  <a:schemeClr val="dk1"/>
                </a:solidFill>
              </a:rPr>
              <a:t> 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2698400" y="1092475"/>
            <a:ext cx="30000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is Social Loafing?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Social loafing</a:t>
            </a:r>
            <a:r>
              <a:rPr lang="en-GB" sz="1100">
                <a:solidFill>
                  <a:schemeClr val="dk1"/>
                </a:solidFill>
              </a:rPr>
              <a:t> occurs when individuals </a:t>
            </a:r>
            <a:r>
              <a:rPr b="1" lang="en-GB" sz="1100">
                <a:solidFill>
                  <a:schemeClr val="dk1"/>
                </a:solidFill>
              </a:rPr>
              <a:t>reduce their effort when working in a group compared to working alone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happens because people may feel their contribution is </a:t>
            </a:r>
            <a:r>
              <a:rPr b="1" lang="en-GB" sz="1100">
                <a:solidFill>
                  <a:schemeClr val="dk1"/>
                </a:solidFill>
              </a:rPr>
              <a:t>less visible or less important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Latané, Williams &amp; Harkins (1979)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5637150" y="166055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does this happen?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Social loafing can occur when: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Individual effort isn’t clearly recognised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Responsibility is shared across the team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Players believe others will do the 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Effort can decrease when </a:t>
            </a:r>
            <a:r>
              <a:rPr b="1" lang="en-GB" sz="1100">
                <a:solidFill>
                  <a:schemeClr val="dk1"/>
                </a:solidFill>
              </a:rPr>
              <a:t>accountability is low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445025"/>
            <a:ext cx="6680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100">
                <a:latin typeface="Rosario"/>
                <a:ea typeface="Rosario"/>
                <a:cs typeface="Rosario"/>
                <a:sym typeface="Rosario"/>
              </a:rPr>
              <a:t>Social Loafing</a:t>
            </a:r>
            <a:r>
              <a:rPr b="1" lang="en-GB" sz="2100">
                <a:latin typeface="Rosario"/>
                <a:ea typeface="Rosario"/>
                <a:cs typeface="Rosario"/>
                <a:sym typeface="Rosario"/>
              </a:rPr>
              <a:t> (Latané, Williams, &amp; Harkins, 1979).</a:t>
            </a:r>
            <a:endParaRPr sz="2100">
              <a:solidFill>
                <a:schemeClr val="dk2"/>
              </a:solidFill>
              <a:latin typeface="Rosario"/>
              <a:ea typeface="Rosario"/>
              <a:cs typeface="Rosario"/>
              <a:sym typeface="Rosario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200" name="Google Shape;200;p29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/>
        </p:nvSpPr>
        <p:spPr>
          <a:xfrm>
            <a:off x="142025" y="1212725"/>
            <a:ext cx="30000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Examples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might look like: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Assuming someone else will track a runner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Not calling for the ball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Letting stronger players carry the team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Players may rely on others.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3072000" y="138765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How strong teams prevent it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Teams can reduce social loafing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Clear roles and responsibilities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Strong leadership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Accountability within the team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Recognising individual effort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Everyone contributes.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5669925" y="1260775"/>
            <a:ext cx="30000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Team discussion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What keeps players accountable on your team?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🗣 Communication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👥 Leadership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🔥 Team standards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4741300" y="4096775"/>
            <a:ext cx="43002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Latané, B., Williams, K., &amp; Harkins, S. (1979).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Many hands make light the work: The causes and consequences of social loafing.</a:t>
            </a:r>
            <a:r>
              <a:rPr lang="en-GB" sz="1100">
                <a:solidFill>
                  <a:schemeClr val="dk1"/>
                </a:solidFill>
              </a:rPr>
              <a:t> Journal of Personality and Social Psychology, 37(6), 822–832.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311700" y="338075"/>
            <a:ext cx="6499800" cy="12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Collective Emotion &amp; Emotional Contagion</a:t>
            </a:r>
            <a:endParaRPr sz="44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210" name="Google Shape;210;p30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0"/>
          <p:cNvSpPr txBox="1"/>
          <p:nvPr/>
        </p:nvSpPr>
        <p:spPr>
          <a:xfrm>
            <a:off x="109250" y="1671475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noticed how one moment can change the whole team’s energy?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One big score.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One mistake.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One loud celebration.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Suddenly the </a:t>
            </a:r>
            <a:r>
              <a:rPr b="1" lang="en-GB" sz="1100">
                <a:solidFill>
                  <a:schemeClr val="dk1"/>
                </a:solidFill>
              </a:rPr>
              <a:t>entire team feels it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That’s psychology 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3026150" y="1671475"/>
            <a:ext cx="30000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Collective Emotion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Collective emotion</a:t>
            </a:r>
            <a:r>
              <a:rPr lang="en-GB" sz="1100">
                <a:solidFill>
                  <a:schemeClr val="dk1"/>
                </a:solidFill>
              </a:rPr>
              <a:t> happens when a group of people </a:t>
            </a:r>
            <a:r>
              <a:rPr b="1" lang="en-GB" sz="1100">
                <a:solidFill>
                  <a:schemeClr val="dk1"/>
                </a:solidFill>
              </a:rPr>
              <a:t>experience the same emotions together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 team sports this might look like: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The team celebrating a goal together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Everyone feeling frustrated after conceding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Shared excitement before throw-in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Emotions can become </a:t>
            </a:r>
            <a:r>
              <a:rPr b="1" lang="en-GB" sz="1100">
                <a:solidFill>
                  <a:schemeClr val="dk1"/>
                </a:solidFill>
              </a:rPr>
              <a:t>shared within a team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6144000" y="1787950"/>
            <a:ext cx="30000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🔄 </a:t>
            </a:r>
            <a:r>
              <a:rPr b="1" lang="en-GB" sz="1100">
                <a:solidFill>
                  <a:schemeClr val="dk1"/>
                </a:solidFill>
              </a:rPr>
              <a:t>Emotional Contagion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Emotional contagion</a:t>
            </a:r>
            <a:r>
              <a:rPr lang="en-GB" sz="1100">
                <a:solidFill>
                  <a:schemeClr val="dk1"/>
                </a:solidFill>
              </a:rPr>
              <a:t> is when emotions </a:t>
            </a:r>
            <a:r>
              <a:rPr b="1" lang="en-GB" sz="1100">
                <a:solidFill>
                  <a:schemeClr val="dk1"/>
                </a:solidFill>
              </a:rPr>
              <a:t>spread from one person to another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For example: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A confident player lifts the whole team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A frustrated teammate spreads negativity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A captain’s energy motivates everyone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Emotions are contagious.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338075"/>
            <a:ext cx="6499800" cy="12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Collective Emotion &amp; Emotional Contagion</a:t>
            </a:r>
            <a:endParaRPr sz="44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219" name="Google Shape;219;p31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 txBox="1"/>
          <p:nvPr/>
        </p:nvSpPr>
        <p:spPr>
          <a:xfrm>
            <a:off x="142025" y="172610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Examples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Emotional contagion might happen when: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A big score lifts team confidence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A mistake lowers morale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A leader brings energy and belief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One player’s emotion can </a:t>
            </a:r>
            <a:r>
              <a:rPr b="1" lang="en-GB" sz="1100">
                <a:solidFill>
                  <a:schemeClr val="dk1"/>
                </a:solidFill>
              </a:rPr>
              <a:t>influence the whole squad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3072000" y="1649625"/>
            <a:ext cx="3000000" cy="3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Positive emotions can: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Boost confidence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Increase motivation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Improve teamwork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Negative emotions can: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❌ Reduce focus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Spread frustration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Lower team morale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Energy spreads within teams.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5560675" y="1580375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Who brings the most </a:t>
            </a:r>
            <a:r>
              <a:rPr b="1" lang="en-GB" sz="1100">
                <a:solidFill>
                  <a:schemeClr val="dk1"/>
                </a:solidFill>
              </a:rPr>
              <a:t>energy</a:t>
            </a:r>
            <a:r>
              <a:rPr lang="en-GB" sz="1100">
                <a:solidFill>
                  <a:schemeClr val="dk1"/>
                </a:solidFill>
              </a:rPr>
              <a:t> to your team?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The captain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⚡ The motivator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😄 The positive teammate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Tag them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6072000" y="4094300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Hatfield, E., Cacioppo, J. T., &amp; Rapson, R. L. (1994).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Emotional contagion.</a:t>
            </a:r>
            <a:r>
              <a:rPr lang="en-GB" sz="1100">
                <a:solidFill>
                  <a:schemeClr val="dk1"/>
                </a:solidFill>
              </a:rPr>
              <a:t> Cambridge University Press.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Team Flow State</a:t>
            </a:r>
            <a:endParaRPr sz="40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229" name="Google Shape;229;p32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43700" y="1540375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had a match where everything just clicked?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Passes connect.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Movement feels automatic.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The whole team is in sync.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Sports psychology calls this: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Flow</a:t>
            </a:r>
            <a:r>
              <a:rPr lang="en-GB" sz="1100">
                <a:solidFill>
                  <a:schemeClr val="dk1"/>
                </a:solidFill>
              </a:rPr>
              <a:t> 🔥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1" name="Google Shape;231;p32"/>
          <p:cNvSpPr txBox="1"/>
          <p:nvPr/>
        </p:nvSpPr>
        <p:spPr>
          <a:xfrm>
            <a:off x="2829500" y="1431150"/>
            <a:ext cx="30000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is Flow?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Flow</a:t>
            </a:r>
            <a:r>
              <a:rPr lang="en-GB" sz="1100">
                <a:solidFill>
                  <a:schemeClr val="dk1"/>
                </a:solidFill>
              </a:rPr>
              <a:t> is a mental state where someone becomes </a:t>
            </a:r>
            <a:r>
              <a:rPr b="1" lang="en-GB" sz="1100">
                <a:solidFill>
                  <a:schemeClr val="dk1"/>
                </a:solidFill>
              </a:rPr>
              <a:t>fully absorbed in what they’re doing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During flow: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Focus is intense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Skills feel automatic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Time seems to pass quickly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Csikszentmihalyi (1975)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5757325" y="1540375"/>
            <a:ext cx="30000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🤝 </a:t>
            </a:r>
            <a:r>
              <a:rPr b="1" lang="en-GB" sz="1100">
                <a:solidFill>
                  <a:schemeClr val="dk1"/>
                </a:solidFill>
              </a:rPr>
              <a:t>Team Flow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Flow doesn’t just happen individually.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Sometimes an </a:t>
            </a:r>
            <a:r>
              <a:rPr b="1" lang="en-GB" sz="1100">
                <a:solidFill>
                  <a:schemeClr val="dk1"/>
                </a:solidFill>
              </a:rPr>
              <a:t>entire team</a:t>
            </a:r>
            <a:r>
              <a:rPr lang="en-GB" sz="1100">
                <a:solidFill>
                  <a:schemeClr val="dk1"/>
                </a:solidFill>
              </a:rPr>
              <a:t> experiences it together.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might look like: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Quick, instinctive passing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Players moving into space naturally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Everyone reading the game the same way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The team feels </a:t>
            </a:r>
            <a:r>
              <a:rPr b="1" lang="en-GB" sz="1100">
                <a:solidFill>
                  <a:schemeClr val="dk1"/>
                </a:solidFill>
              </a:rPr>
              <a:t>completely connected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Team Flow State</a:t>
            </a:r>
            <a:endParaRPr sz="40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238" name="Google Shape;238;p33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/>
        </p:nvSpPr>
        <p:spPr>
          <a:xfrm>
            <a:off x="131100" y="1605925"/>
            <a:ext cx="30000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Examples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Team flow might happen when: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Attacks move smoothly up the pitch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Communication is effortless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Players trust each other’s decisions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The team is </a:t>
            </a:r>
            <a:r>
              <a:rPr b="1" lang="en-GB" sz="1100">
                <a:solidFill>
                  <a:schemeClr val="dk1"/>
                </a:solidFill>
              </a:rPr>
              <a:t>fully in the moment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3026150" y="1605925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What helps teams reach flow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Team flow is more likely when: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Skill levels match the challenge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Players trust each other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Communication is clear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Focus stays on the present moment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The team becomes </a:t>
            </a:r>
            <a:r>
              <a:rPr b="1" lang="en-GB" sz="1100">
                <a:solidFill>
                  <a:schemeClr val="dk1"/>
                </a:solidFill>
              </a:rPr>
              <a:t>synchronised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1" name="Google Shape;241;p33"/>
          <p:cNvSpPr txBox="1"/>
          <p:nvPr/>
        </p:nvSpPr>
        <p:spPr>
          <a:xfrm>
            <a:off x="5757325" y="1431625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Think about your best match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Did it feel like: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Everything just worked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🧠 You didn’t overthink anything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⚡ The whole team was in sync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Tell us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5986875" y="4074925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Csikszentmihalyi, M. (1975). </a:t>
            </a:r>
            <a:r>
              <a:rPr i="1" lang="en-GB" sz="1100">
                <a:solidFill>
                  <a:schemeClr val="dk1"/>
                </a:solidFill>
              </a:rPr>
              <a:t>Beyond boredom and anxiety: The experience of play in work and games.</a:t>
            </a:r>
            <a:r>
              <a:rPr lang="en-GB" sz="1100">
                <a:solidFill>
                  <a:schemeClr val="dk1"/>
                </a:solidFill>
              </a:rPr>
              <a:t> San Francisco: Jossey-Bass.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Positive &amp; Negative Momentum</a:t>
            </a:r>
            <a:endParaRPr sz="40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248" name="Google Shape;248;p34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4"/>
          <p:cNvSpPr txBox="1"/>
          <p:nvPr/>
        </p:nvSpPr>
        <p:spPr>
          <a:xfrm>
            <a:off x="131100" y="1595000"/>
            <a:ext cx="3000000" cy="16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felt like your team couldn’t stop scoring…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or that everything just went wrong after one mistake?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That’s </a:t>
            </a:r>
            <a:r>
              <a:rPr b="1" lang="en-GB" sz="1100">
                <a:solidFill>
                  <a:schemeClr val="dk1"/>
                </a:solidFill>
              </a:rPr>
              <a:t>momentum in sport</a:t>
            </a:r>
            <a:r>
              <a:rPr lang="en-GB" sz="1100">
                <a:solidFill>
                  <a:schemeClr val="dk1"/>
                </a:solidFill>
              </a:rPr>
              <a:t> 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3131100" y="1365600"/>
            <a:ext cx="30000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Positive Momentum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Positive momentum</a:t>
            </a:r>
            <a:r>
              <a:rPr lang="en-GB" sz="1100">
                <a:solidFill>
                  <a:schemeClr val="dk1"/>
                </a:solidFill>
              </a:rPr>
              <a:t> happens when </a:t>
            </a:r>
            <a:r>
              <a:rPr b="1" lang="en-GB" sz="1100">
                <a:solidFill>
                  <a:schemeClr val="dk1"/>
                </a:solidFill>
              </a:rPr>
              <a:t>success builds on success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 Ladies Gaelic Football, it might look like: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Scoring consecutive points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Winning a crucial tackle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Confidence growing after each play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The team </a:t>
            </a:r>
            <a:r>
              <a:rPr b="1" lang="en-GB" sz="1100">
                <a:solidFill>
                  <a:schemeClr val="dk1"/>
                </a:solidFill>
              </a:rPr>
              <a:t>feels unstoppable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5986875" y="1714200"/>
            <a:ext cx="30000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😬 </a:t>
            </a:r>
            <a:r>
              <a:rPr b="1" lang="en-GB" sz="1100">
                <a:solidFill>
                  <a:schemeClr val="dk1"/>
                </a:solidFill>
              </a:rPr>
              <a:t>Negative Momentum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Negative momentum</a:t>
            </a:r>
            <a:r>
              <a:rPr lang="en-GB" sz="1100">
                <a:solidFill>
                  <a:schemeClr val="dk1"/>
                </a:solidFill>
              </a:rPr>
              <a:t> happens when </a:t>
            </a:r>
            <a:r>
              <a:rPr b="1" lang="en-GB" sz="1100">
                <a:solidFill>
                  <a:schemeClr val="dk1"/>
                </a:solidFill>
              </a:rPr>
              <a:t>one setback leads to more mistakes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Conceding a goal or point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Poor passes piling up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Losing confidence after mistakes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The team </a:t>
            </a:r>
            <a:r>
              <a:rPr b="1" lang="en-GB" sz="1100">
                <a:solidFill>
                  <a:schemeClr val="dk1"/>
                </a:solidFill>
              </a:rPr>
              <a:t>feels stuck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Positive &amp; Negative Momentum</a:t>
            </a:r>
            <a:endParaRPr sz="40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257" name="Google Shape;257;p35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5"/>
          <p:cNvSpPr txBox="1"/>
          <p:nvPr/>
        </p:nvSpPr>
        <p:spPr>
          <a:xfrm>
            <a:off x="54625" y="154040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it happens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Momentum affects: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Confidence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Motivation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Focus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 single event can </a:t>
            </a:r>
            <a:r>
              <a:rPr b="1" lang="en-GB" sz="1100">
                <a:solidFill>
                  <a:schemeClr val="dk1"/>
                </a:solidFill>
              </a:rPr>
              <a:t>change the team’s energy</a:t>
            </a:r>
            <a:r>
              <a:rPr lang="en-GB" sz="1100">
                <a:solidFill>
                  <a:schemeClr val="dk1"/>
                </a:solidFill>
              </a:rPr>
              <a:t> and influence the rest of the match.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2916900" y="1540400"/>
            <a:ext cx="30000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How to manage momentum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Strong teams can </a:t>
            </a:r>
            <a:r>
              <a:rPr b="1" lang="en-GB" sz="1100">
                <a:solidFill>
                  <a:schemeClr val="dk1"/>
                </a:solidFill>
              </a:rPr>
              <a:t>turn momentum in their favour</a:t>
            </a:r>
            <a:r>
              <a:rPr lang="en-GB" sz="1100">
                <a:solidFill>
                  <a:schemeClr val="dk1"/>
                </a:solidFill>
              </a:rPr>
              <a:t>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Staying focused on the next play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Positive communication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Leadership and encouragement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Breaking negative cycles quickly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Momentum is </a:t>
            </a:r>
            <a:r>
              <a:rPr b="1" lang="en-GB" sz="1100">
                <a:solidFill>
                  <a:schemeClr val="dk1"/>
                </a:solidFill>
              </a:rPr>
              <a:t>contagious but controllable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5832300" y="1581200"/>
            <a:ext cx="30000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Which do you notice more?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Positive momentum – the team can’t stop scoring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😬 Negative momentum – one mistake leads to another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your experiences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6072650" y="4140475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Taylor, J., &amp; Demick, A. (1994).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A multidimensional model of momentum in sports.</a:t>
            </a:r>
            <a:r>
              <a:rPr lang="en-GB" sz="1100">
                <a:solidFill>
                  <a:schemeClr val="dk1"/>
                </a:solidFill>
              </a:rPr>
              <a:t> Journal of Applied Sport Psychology, 6(1), 51–70.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Rosario"/>
                <a:ea typeface="Rosario"/>
                <a:cs typeface="Rosario"/>
                <a:sym typeface="Rosario"/>
              </a:rPr>
              <a:t>Collective Team Collapse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267" name="Google Shape;267;p36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 txBox="1"/>
          <p:nvPr/>
        </p:nvSpPr>
        <p:spPr>
          <a:xfrm>
            <a:off x="163875" y="1260775"/>
            <a:ext cx="30000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been in a match where everything went wrong…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and the whole team just seemed to fall apart?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That’s called: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Collective Team Collapse</a:t>
            </a:r>
            <a:r>
              <a:rPr lang="en-GB" sz="1100">
                <a:solidFill>
                  <a:schemeClr val="dk1"/>
                </a:solidFill>
              </a:rPr>
              <a:t> 😬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3072000" y="1260775"/>
            <a:ext cx="30000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is Collective Team Collapse?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It happens when a team </a:t>
            </a:r>
            <a:r>
              <a:rPr b="1" lang="en-GB" sz="1100">
                <a:solidFill>
                  <a:schemeClr val="dk1"/>
                </a:solidFill>
              </a:rPr>
              <a:t>suddenly experiences a complete performance breakdown</a:t>
            </a:r>
            <a:r>
              <a:rPr lang="en-GB" sz="1100">
                <a:solidFill>
                  <a:schemeClr val="dk1"/>
                </a:solidFill>
              </a:rPr>
              <a:t>, often after: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A critical mistake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Losing confidence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Pressure from the opposition or crowd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The whole team struggles at the same time.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Wergin, 2018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6072000" y="1532425"/>
            <a:ext cx="30000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😬 </a:t>
            </a:r>
            <a:r>
              <a:rPr b="1" lang="en-GB" sz="1100">
                <a:solidFill>
                  <a:schemeClr val="dk1"/>
                </a:solidFill>
              </a:rPr>
              <a:t>How it shows up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Missing easy passes one after another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Defensive communication breaks down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Players stop trusting each other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Team loses energy and focus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The team’s performance spirals.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Rosario"/>
                <a:ea typeface="Rosario"/>
                <a:cs typeface="Rosario"/>
                <a:sym typeface="Rosario"/>
              </a:rPr>
              <a:t>Collective Team Collapse</a:t>
            </a:r>
            <a:endParaRPr sz="3600">
              <a:latin typeface="Rosario"/>
              <a:ea typeface="Rosario"/>
              <a:cs typeface="Rosario"/>
              <a:sym typeface="Rosario"/>
            </a:endParaRPr>
          </a:p>
        </p:txBody>
      </p:sp>
      <p:pic>
        <p:nvPicPr>
          <p:cNvPr id="276" name="Google Shape;276;p37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/>
        </p:nvSpPr>
        <p:spPr>
          <a:xfrm>
            <a:off x="76475" y="1290300"/>
            <a:ext cx="30000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it happens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Collective team collapse can occur due to: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High-pressure situations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Overthinking mistakes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Negative emotions spreading quickly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Lack of leadership or support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It’s </a:t>
            </a:r>
            <a:r>
              <a:rPr b="1" lang="en-GB" sz="1100">
                <a:solidFill>
                  <a:schemeClr val="dk1"/>
                </a:solidFill>
              </a:rPr>
              <a:t>more than one player failing—it’s a team reaction.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78" name="Google Shape;278;p37"/>
          <p:cNvSpPr txBox="1"/>
          <p:nvPr/>
        </p:nvSpPr>
        <p:spPr>
          <a:xfrm>
            <a:off x="3072000" y="1260775"/>
            <a:ext cx="30000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How to prevent it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Teams can reduce collapse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Strong leadership and clear roles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Maintaining positive team communication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Focusing on the next play, not past mistakes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Building resilience and trust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Even in tough moments, teams </a:t>
            </a:r>
            <a:r>
              <a:rPr b="1" lang="en-GB" sz="1100">
                <a:solidFill>
                  <a:schemeClr val="dk1"/>
                </a:solidFill>
              </a:rPr>
              <a:t>can recover together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5832300" y="1552825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Have you ever experienced a </a:t>
            </a:r>
            <a:r>
              <a:rPr b="1" lang="en-GB" sz="1100">
                <a:solidFill>
                  <a:schemeClr val="dk1"/>
                </a:solidFill>
              </a:rPr>
              <a:t>team collapse</a:t>
            </a:r>
            <a:r>
              <a:rPr lang="en-GB" sz="1100">
                <a:solidFill>
                  <a:schemeClr val="dk1"/>
                </a:solidFill>
              </a:rPr>
              <a:t>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😬 Yes – everything went wrong at once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🔥 No – our team stays resilient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6072000" y="4010700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Wergin, C. (2018).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Collective team collapse in sports: Conceptualization, critical events, and strategies for prevention.</a:t>
            </a:r>
            <a:r>
              <a:rPr lang="en-GB" sz="1100">
                <a:solidFill>
                  <a:schemeClr val="dk1"/>
                </a:solidFill>
              </a:rPr>
              <a:t> Frontiers in Psychology, 9, 1898.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Choking</a:t>
            </a: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 under Pressure</a:t>
            </a:r>
            <a:endParaRPr sz="40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286" name="Google Shape;286;p38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8"/>
          <p:cNvSpPr txBox="1"/>
          <p:nvPr/>
        </p:nvSpPr>
        <p:spPr>
          <a:xfrm>
            <a:off x="98325" y="1260775"/>
            <a:ext cx="30000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missed an easy shot in a big game…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even though you practice it every day?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That’s called: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Choking Under Pressure 😬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2993375" y="121265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is Choking?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Choking happens when </a:t>
            </a:r>
            <a:r>
              <a:rPr b="1" lang="en-GB" sz="1100">
                <a:solidFill>
                  <a:schemeClr val="dk1"/>
                </a:solidFill>
              </a:rPr>
              <a:t>performance drops in high-pressure situations</a:t>
            </a:r>
            <a:r>
              <a:rPr lang="en-GB" sz="1100">
                <a:solidFill>
                  <a:schemeClr val="dk1"/>
                </a:solidFill>
              </a:rPr>
              <a:t>, even for skilled players.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It’s not lack of ability — it’s </a:t>
            </a:r>
            <a:r>
              <a:rPr b="1" lang="en-GB" sz="1100">
                <a:solidFill>
                  <a:schemeClr val="dk1"/>
                </a:solidFill>
              </a:rPr>
              <a:t>how pressure affects the mind and body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Baumeister, 1984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5993375" y="1638700"/>
            <a:ext cx="30000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it happens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Pressure can cause: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</a:t>
            </a:r>
            <a:r>
              <a:rPr b="1" lang="en-GB" sz="1100">
                <a:solidFill>
                  <a:schemeClr val="dk1"/>
                </a:solidFill>
              </a:rPr>
              <a:t>Overthinking</a:t>
            </a:r>
            <a:r>
              <a:rPr lang="en-GB" sz="1100">
                <a:solidFill>
                  <a:schemeClr val="dk1"/>
                </a:solidFill>
              </a:rPr>
              <a:t> – focusing too much on the skill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</a:t>
            </a:r>
            <a:r>
              <a:rPr b="1" lang="en-GB" sz="1100">
                <a:solidFill>
                  <a:schemeClr val="dk1"/>
                </a:solidFill>
              </a:rPr>
              <a:t>Anxiety</a:t>
            </a:r>
            <a:r>
              <a:rPr lang="en-GB" sz="1100">
                <a:solidFill>
                  <a:schemeClr val="dk1"/>
                </a:solidFill>
              </a:rPr>
              <a:t> – worrying about failure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</a:t>
            </a:r>
            <a:r>
              <a:rPr b="1" lang="en-GB" sz="1100">
                <a:solidFill>
                  <a:schemeClr val="dk1"/>
                </a:solidFill>
              </a:rPr>
              <a:t>Muscle tension</a:t>
            </a:r>
            <a:r>
              <a:rPr lang="en-GB" sz="1100">
                <a:solidFill>
                  <a:schemeClr val="dk1"/>
                </a:solidFill>
              </a:rPr>
              <a:t> – disrupting smooth movements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Even experienced players can choke.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Rosario"/>
                <a:ea typeface="Rosario"/>
                <a:cs typeface="Rosario"/>
                <a:sym typeface="Rosario"/>
              </a:rPr>
              <a:t>Choking under Pressure</a:t>
            </a:r>
            <a:endParaRPr sz="40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295" name="Google Shape;295;p39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 txBox="1"/>
          <p:nvPr/>
        </p:nvSpPr>
        <p:spPr>
          <a:xfrm>
            <a:off x="152950" y="1485775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Examples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Choking might look like: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• Missing an easy free or point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Hesitating on passes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Poor decision-making in finals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• Playing below normal skill level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</a:t>
            </a:r>
            <a:r>
              <a:rPr b="1" lang="en-GB" sz="1100">
                <a:solidFill>
                  <a:schemeClr val="dk1"/>
                </a:solidFill>
              </a:rPr>
              <a:t>Pressure changes performance.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3072000" y="1387450"/>
            <a:ext cx="30000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How to prevent choking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Players and teams can reduce choking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Practicing under pressure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Focusing on </a:t>
            </a:r>
            <a:r>
              <a:rPr b="1" lang="en-GB" sz="1100">
                <a:solidFill>
                  <a:schemeClr val="dk1"/>
                </a:solidFill>
              </a:rPr>
              <a:t>the process, not the outcome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Using breathing and relaxation techniques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Maintaining confidence and positive self-talk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Mindset is as important as skill.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8" name="Google Shape;298;p39"/>
          <p:cNvSpPr txBox="1"/>
          <p:nvPr/>
        </p:nvSpPr>
        <p:spPr>
          <a:xfrm>
            <a:off x="5921200" y="1408050"/>
            <a:ext cx="30000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Have you ever </a:t>
            </a:r>
            <a:r>
              <a:rPr b="1" lang="en-GB" sz="1100">
                <a:solidFill>
                  <a:schemeClr val="dk1"/>
                </a:solidFill>
              </a:rPr>
              <a:t>choked under pressure</a:t>
            </a:r>
            <a:r>
              <a:rPr lang="en-GB" sz="1100">
                <a:solidFill>
                  <a:schemeClr val="dk1"/>
                </a:solidFill>
              </a:rPr>
              <a:t>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😬 Yes – I froze in the moment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🔥 No – I thrive under pressure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Tell us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5986875" y="3965675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Baumeister, R. F. (1984).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Choking under pressure: Self-consciousness and paradoxical effects of incentives on skillful performance.</a:t>
            </a:r>
            <a:r>
              <a:rPr lang="en-GB" sz="1100">
                <a:solidFill>
                  <a:schemeClr val="dk1"/>
                </a:solidFill>
              </a:rPr>
              <a:t> Journal of Personality and Social Psychology, 46(3), 610–620.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-GB" sz="3300">
                <a:latin typeface="Rosario Medium"/>
                <a:ea typeface="Rosario Medium"/>
                <a:cs typeface="Rosario Medium"/>
                <a:sym typeface="Rosario Medium"/>
              </a:rPr>
              <a:t>Understanding Competitive Pressure</a:t>
            </a:r>
            <a:endParaRPr/>
          </a:p>
        </p:txBody>
      </p:sp>
      <p:pic>
        <p:nvPicPr>
          <p:cNvPr id="305" name="Google Shape;305;p40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0"/>
          <p:cNvSpPr txBox="1"/>
          <p:nvPr/>
        </p:nvSpPr>
        <p:spPr>
          <a:xfrm>
            <a:off x="85550" y="1260775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felt like the bigger the game, the harder it is to play your best?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That’s </a:t>
            </a:r>
            <a:r>
              <a:rPr b="1" lang="en-GB" sz="1100">
                <a:solidFill>
                  <a:schemeClr val="dk1"/>
                </a:solidFill>
              </a:rPr>
              <a:t>competitive pressure</a:t>
            </a:r>
            <a:r>
              <a:rPr lang="en-GB" sz="1100">
                <a:solidFill>
                  <a:schemeClr val="dk1"/>
                </a:solidFill>
              </a:rPr>
              <a:t> in action 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3015525" y="1017725"/>
            <a:ext cx="3000000" cy="3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is Competitive Pressure?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Competitive pressure happens when a player or team </a:t>
            </a:r>
            <a:r>
              <a:rPr b="1" lang="en-GB" sz="1100">
                <a:solidFill>
                  <a:schemeClr val="dk1"/>
                </a:solidFill>
              </a:rPr>
              <a:t>feels the expectations, stakes, or consequences of a match</a:t>
            </a:r>
            <a:r>
              <a:rPr lang="en-GB" sz="1100">
                <a:solidFill>
                  <a:schemeClr val="dk1"/>
                </a:solidFill>
              </a:rPr>
              <a:t>, which can affect focus, decision-making, and confidence.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 LGFA, this includes: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Finals or semi-finals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Playing in front of large crowds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Pressure from coaches, teammates, or self-expectations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📚 Adapted from sport psychology research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6073825" y="1561225"/>
            <a:ext cx="30000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Competitive pressure can: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Increase motivation and focus (positive pressure)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Cause stress, anxiety, or choking (negative pressure)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The effect depends on how players </a:t>
            </a:r>
            <a:r>
              <a:rPr b="1" lang="en-GB" sz="1100">
                <a:solidFill>
                  <a:schemeClr val="dk1"/>
                </a:solidFill>
              </a:rPr>
              <a:t>perceive and manage it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Rosario Medium"/>
                <a:ea typeface="Rosario Medium"/>
                <a:cs typeface="Rosario Medium"/>
                <a:sym typeface="Rosario Medium"/>
              </a:rPr>
              <a:t>Understanding Competitive Pressure</a:t>
            </a:r>
            <a:endParaRPr sz="33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314" name="Google Shape;314;p41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1"/>
          <p:cNvSpPr txBox="1"/>
          <p:nvPr/>
        </p:nvSpPr>
        <p:spPr>
          <a:xfrm>
            <a:off x="139000" y="1208350"/>
            <a:ext cx="3000000" cy="3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Examples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 player missing an easy free in a county final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Hesitating on a pass because the opposition is pressuring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Feeling energized by a loud supportive crowd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Pressure can </a:t>
            </a:r>
            <a:r>
              <a:rPr b="1" lang="en-GB" sz="1100">
                <a:solidFill>
                  <a:schemeClr val="dk1"/>
                </a:solidFill>
              </a:rPr>
              <a:t>help or hinder performance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16" name="Google Shape;316;p41"/>
          <p:cNvSpPr txBox="1"/>
          <p:nvPr/>
        </p:nvSpPr>
        <p:spPr>
          <a:xfrm>
            <a:off x="3072000" y="1208350"/>
            <a:ext cx="30000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How to manage competitive pressure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Players and teams can cope by: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Practicing under match-like conditions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Focusing on </a:t>
            </a:r>
            <a:r>
              <a:rPr b="1" lang="en-GB" sz="1100">
                <a:solidFill>
                  <a:schemeClr val="dk1"/>
                </a:solidFill>
              </a:rPr>
              <a:t>the process, not the outcome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Using positive self-talk and breathing techniques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Leaning on team support and leadership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Strong mental skills make pressure a </a:t>
            </a:r>
            <a:r>
              <a:rPr b="1" lang="en-GB" sz="1100">
                <a:solidFill>
                  <a:schemeClr val="dk1"/>
                </a:solidFill>
              </a:rPr>
              <a:t>performance booster, not a blocker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6072000" y="1423450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Do you play better under pressure or does it make you nervous?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I thrive under pressure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😬 I struggle with 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8" name="Google Shape;318;p41"/>
          <p:cNvSpPr txBox="1"/>
          <p:nvPr/>
        </p:nvSpPr>
        <p:spPr>
          <a:xfrm>
            <a:off x="6072000" y="45126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Jones, G., &amp; Hardy, L. (1990). </a:t>
            </a:r>
            <a:r>
              <a:rPr i="1" lang="en-GB" sz="1100">
                <a:solidFill>
                  <a:schemeClr val="dk1"/>
                </a:solidFill>
              </a:rPr>
              <a:t>Stress and performance in sport.</a:t>
            </a:r>
            <a:r>
              <a:rPr lang="en-GB" sz="1100">
                <a:solidFill>
                  <a:schemeClr val="dk1"/>
                </a:solidFill>
              </a:rPr>
              <a:t> Chichester: Wiley.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Rosario Medium"/>
                <a:ea typeface="Rosario Medium"/>
                <a:cs typeface="Rosario Medium"/>
                <a:sym typeface="Rosario Medium"/>
              </a:rPr>
              <a:t>Building Your Pressure Shield</a:t>
            </a:r>
            <a:endParaRPr sz="33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324" name="Google Shape;324;p42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 txBox="1"/>
          <p:nvPr/>
        </p:nvSpPr>
        <p:spPr>
          <a:xfrm>
            <a:off x="0" y="1443600"/>
            <a:ext cx="3000000" cy="1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Pressure is everywhere in big games…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But what if you could </a:t>
            </a:r>
            <a:r>
              <a:rPr b="1" lang="en-GB" sz="1100">
                <a:solidFill>
                  <a:schemeClr val="dk1"/>
                </a:solidFill>
              </a:rPr>
              <a:t>shield yourself from it</a:t>
            </a:r>
            <a:r>
              <a:rPr lang="en-GB" sz="1100">
                <a:solidFill>
                  <a:schemeClr val="dk1"/>
                </a:solidFill>
              </a:rPr>
              <a:t>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That’s what we call a </a:t>
            </a:r>
            <a:r>
              <a:rPr b="1" lang="en-GB" sz="1100">
                <a:solidFill>
                  <a:schemeClr val="dk1"/>
                </a:solidFill>
              </a:rPr>
              <a:t>Pressure Shield</a:t>
            </a:r>
            <a:r>
              <a:rPr lang="en-GB" sz="1100">
                <a:solidFill>
                  <a:schemeClr val="dk1"/>
                </a:solidFill>
              </a:rPr>
              <a:t> 🛡️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3072000" y="1260775"/>
            <a:ext cx="30000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is a Pressure Shield?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 </a:t>
            </a:r>
            <a:r>
              <a:rPr b="1" lang="en-GB" sz="1100">
                <a:solidFill>
                  <a:schemeClr val="dk1"/>
                </a:solidFill>
              </a:rPr>
              <a:t>Pressure Shield</a:t>
            </a:r>
            <a:r>
              <a:rPr lang="en-GB" sz="1100">
                <a:solidFill>
                  <a:schemeClr val="dk1"/>
                </a:solidFill>
              </a:rPr>
              <a:t> is a set of </a:t>
            </a:r>
            <a:r>
              <a:rPr b="1" lang="en-GB" sz="1100">
                <a:solidFill>
                  <a:schemeClr val="dk1"/>
                </a:solidFill>
              </a:rPr>
              <a:t>mental skills and strategies</a:t>
            </a:r>
            <a:r>
              <a:rPr lang="en-GB" sz="1100">
                <a:solidFill>
                  <a:schemeClr val="dk1"/>
                </a:solidFill>
              </a:rPr>
              <a:t> that help players: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Stay calm under pressure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Focus on the process instead of outcomes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Maintain confidence and control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It’s </a:t>
            </a:r>
            <a:r>
              <a:rPr b="1" lang="en-GB" sz="1100">
                <a:solidFill>
                  <a:schemeClr val="dk1"/>
                </a:solidFill>
              </a:rPr>
              <a:t>your mental armor on the pitch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6072000" y="1650175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Without a pressure shield, players may: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❌ Overthink skills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Feel anxious or nervous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Choke in key moments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With a shield, pressure can </a:t>
            </a:r>
            <a:r>
              <a:rPr b="1" lang="en-GB" sz="1100">
                <a:solidFill>
                  <a:schemeClr val="dk1"/>
                </a:solidFill>
              </a:rPr>
              <a:t>boost focus and performance</a:t>
            </a:r>
            <a:r>
              <a:rPr lang="en-GB" sz="1100">
                <a:solidFill>
                  <a:schemeClr val="dk1"/>
                </a:solidFill>
              </a:rPr>
              <a:t> instead.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-GB" sz="3300">
                <a:latin typeface="Rosario Medium"/>
                <a:ea typeface="Rosario Medium"/>
                <a:cs typeface="Rosario Medium"/>
                <a:sym typeface="Rosario Medium"/>
              </a:rPr>
              <a:t>Building Your Pressure Shield</a:t>
            </a:r>
            <a:endParaRPr/>
          </a:p>
        </p:txBody>
      </p:sp>
      <p:pic>
        <p:nvPicPr>
          <p:cNvPr id="333" name="Google Shape;333;p43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3"/>
          <p:cNvSpPr txBox="1"/>
          <p:nvPr/>
        </p:nvSpPr>
        <p:spPr>
          <a:xfrm>
            <a:off x="149700" y="1230850"/>
            <a:ext cx="3000000" cy="3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Building your Pressure Shield in LGFA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Key strategies include: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</a:t>
            </a:r>
            <a:r>
              <a:rPr b="1" lang="en-GB" sz="1100">
                <a:solidFill>
                  <a:schemeClr val="dk1"/>
                </a:solidFill>
              </a:rPr>
              <a:t>Pre-match routines</a:t>
            </a:r>
            <a:r>
              <a:rPr lang="en-GB" sz="1100">
                <a:solidFill>
                  <a:schemeClr val="dk1"/>
                </a:solidFill>
              </a:rPr>
              <a:t> – mental warm-ups and visualization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</a:t>
            </a:r>
            <a:r>
              <a:rPr b="1" lang="en-GB" sz="1100">
                <a:solidFill>
                  <a:schemeClr val="dk1"/>
                </a:solidFill>
              </a:rPr>
              <a:t>Focus drills</a:t>
            </a:r>
            <a:r>
              <a:rPr lang="en-GB" sz="1100">
                <a:solidFill>
                  <a:schemeClr val="dk1"/>
                </a:solidFill>
              </a:rPr>
              <a:t> – train your mind to stay on the play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</a:t>
            </a:r>
            <a:r>
              <a:rPr b="1" lang="en-GB" sz="1100">
                <a:solidFill>
                  <a:schemeClr val="dk1"/>
                </a:solidFill>
              </a:rPr>
              <a:t>Positive self-talk</a:t>
            </a:r>
            <a:r>
              <a:rPr lang="en-GB" sz="1100">
                <a:solidFill>
                  <a:schemeClr val="dk1"/>
                </a:solidFill>
              </a:rPr>
              <a:t> – replace “I can’t” with “I can”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</a:t>
            </a:r>
            <a:r>
              <a:rPr b="1" lang="en-GB" sz="1100">
                <a:solidFill>
                  <a:schemeClr val="dk1"/>
                </a:solidFill>
              </a:rPr>
              <a:t>Breathing &amp; relaxation</a:t>
            </a:r>
            <a:r>
              <a:rPr lang="en-GB" sz="1100">
                <a:solidFill>
                  <a:schemeClr val="dk1"/>
                </a:solidFill>
              </a:rPr>
              <a:t> – stay calm under pressure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Think of it as </a:t>
            </a:r>
            <a:r>
              <a:rPr b="1" lang="en-GB" sz="1100">
                <a:solidFill>
                  <a:schemeClr val="dk1"/>
                </a:solidFill>
              </a:rPr>
              <a:t>strengthening your mental muscles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35" name="Google Shape;335;p43"/>
          <p:cNvSpPr txBox="1"/>
          <p:nvPr/>
        </p:nvSpPr>
        <p:spPr>
          <a:xfrm>
            <a:off x="3218700" y="1133500"/>
            <a:ext cx="3000000" cy="3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Leadership &amp; team support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 strong Pressure Shield is not just individual — it’s </a:t>
            </a:r>
            <a:r>
              <a:rPr b="1" lang="en-GB" sz="1100">
                <a:solidFill>
                  <a:schemeClr val="dk1"/>
                </a:solidFill>
              </a:rPr>
              <a:t>team-wide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Captains keeping morale high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Encouraging teammates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Sharing responsibility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Celebrating small successes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Teams that support each other stay resilient in pressure moments.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6144000" y="1445950"/>
            <a:ext cx="30000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Which part of your Pressure Shield helps you the most?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🧘 Focus &amp; breathing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🗣 Positive self-talk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🤝 Team support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🔥 Pre-match routine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6144000" y="43574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Adapted from: Gucciardi, D. F., &amp; Gordon, S. (2009). </a:t>
            </a:r>
            <a:r>
              <a:rPr i="1" lang="en-GB" sz="1100">
                <a:solidFill>
                  <a:schemeClr val="dk1"/>
                </a:solidFill>
              </a:rPr>
              <a:t>Mental toughness in sport: Developments, theory, and practice.</a:t>
            </a:r>
            <a:r>
              <a:rPr lang="en-GB" sz="1100">
                <a:solidFill>
                  <a:schemeClr val="dk1"/>
                </a:solidFill>
              </a:rPr>
              <a:t> Routledge.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-GB" sz="1700"/>
              <a:t>Reframe Pressure as Opportunity</a:t>
            </a:r>
            <a:endParaRPr b="1" sz="1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/>
              <a:t>Slide 1 (Hook)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⚽ </a:t>
            </a:r>
            <a:r>
              <a:rPr b="1" lang="en-GB" sz="1100"/>
              <a:t>Pressure can feel like a burden…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But what if you could </a:t>
            </a:r>
            <a:r>
              <a:rPr b="1" lang="en-GB" sz="1100"/>
              <a:t>turn it into your advantage</a:t>
            </a:r>
            <a:r>
              <a:rPr lang="en-GB" sz="1100"/>
              <a:t>?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This is called </a:t>
            </a:r>
            <a:r>
              <a:rPr b="1" lang="en-GB" sz="1100"/>
              <a:t>Reframing Pressure as Opportunity</a:t>
            </a:r>
            <a:r>
              <a:rPr lang="en-GB" sz="1100"/>
              <a:t> 💡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343" name="Google Shape;343;p44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4"/>
          <p:cNvSpPr txBox="1"/>
          <p:nvPr/>
        </p:nvSpPr>
        <p:spPr>
          <a:xfrm>
            <a:off x="2887200" y="1017725"/>
            <a:ext cx="30000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does it mean?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Reframing pressure is </a:t>
            </a:r>
            <a:r>
              <a:rPr b="1" lang="en-GB" sz="1100">
                <a:solidFill>
                  <a:schemeClr val="dk1"/>
                </a:solidFill>
              </a:rPr>
              <a:t>changing your mindset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Seeing high-stakes moments as </a:t>
            </a:r>
            <a:r>
              <a:rPr b="1" lang="en-GB" sz="1100">
                <a:solidFill>
                  <a:schemeClr val="dk1"/>
                </a:solidFill>
              </a:rPr>
              <a:t>challenges to grow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Focusing on </a:t>
            </a:r>
            <a:r>
              <a:rPr b="1" lang="en-GB" sz="1100">
                <a:solidFill>
                  <a:schemeClr val="dk1"/>
                </a:solidFill>
              </a:rPr>
              <a:t>what you can control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Using pressure to </a:t>
            </a:r>
            <a:r>
              <a:rPr b="1" lang="en-GB" sz="1100">
                <a:solidFill>
                  <a:schemeClr val="dk1"/>
                </a:solidFill>
              </a:rPr>
              <a:t>boost energy and focus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Pressure becomes a </a:t>
            </a:r>
            <a:r>
              <a:rPr b="1" lang="en-GB" sz="1100">
                <a:solidFill>
                  <a:schemeClr val="dk1"/>
                </a:solidFill>
              </a:rPr>
              <a:t>tool, not a threat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45" name="Google Shape;345;p44"/>
          <p:cNvSpPr txBox="1"/>
          <p:nvPr/>
        </p:nvSpPr>
        <p:spPr>
          <a:xfrm>
            <a:off x="5986875" y="1387650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Why it works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When players reframe pressure: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Anxiety decreases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Confidence increases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Performance improves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Mindset changes </a:t>
            </a:r>
            <a:r>
              <a:rPr b="1" lang="en-GB" sz="1100">
                <a:solidFill>
                  <a:schemeClr val="dk1"/>
                </a:solidFill>
              </a:rPr>
              <a:t>how your body and brain respond</a:t>
            </a:r>
            <a:r>
              <a:rPr lang="en-GB" sz="1100">
                <a:solidFill>
                  <a:schemeClr val="dk1"/>
                </a:solidFill>
              </a:rPr>
              <a:t> under pressure.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-GB" sz="1700"/>
              <a:t>Reframe Pressure as Opportunity</a:t>
            </a:r>
            <a:endParaRPr b="1" sz="1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/>
              <a:t>Slide 4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⚽ </a:t>
            </a:r>
            <a:r>
              <a:rPr b="1" lang="en-GB" sz="1100"/>
              <a:t>In LGFA matches, it looks like…</a:t>
            </a:r>
            <a:endParaRPr b="1" sz="11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1100"/>
              <a:t>Feeling </a:t>
            </a:r>
            <a:r>
              <a:rPr b="1" lang="en-GB" sz="1100"/>
              <a:t>excited before a final</a:t>
            </a:r>
            <a:r>
              <a:rPr lang="en-GB" sz="1100"/>
              <a:t> instead of nervous</a:t>
            </a:r>
            <a:br>
              <a:rPr lang="en-GB" sz="1100"/>
            </a:br>
            <a:endParaRPr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100"/>
              <a:t>Viewing a tight scoreline as a chance to </a:t>
            </a:r>
            <a:r>
              <a:rPr b="1" lang="en-GB" sz="1100"/>
              <a:t>shine</a:t>
            </a:r>
            <a:br>
              <a:rPr b="1" lang="en-GB" sz="1100"/>
            </a:br>
            <a:endParaRPr b="1" sz="1100"/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100"/>
              <a:t>Using the crowd’s energy to </a:t>
            </a:r>
            <a:r>
              <a:rPr b="1" lang="en-GB" sz="1100"/>
              <a:t>push yourself further</a:t>
            </a:r>
            <a:br>
              <a:rPr b="1" lang="en-GB" sz="1100"/>
            </a:b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➡️ Pressure becomes </a:t>
            </a:r>
            <a:r>
              <a:rPr b="1" lang="en-GB" sz="1100"/>
              <a:t>fuel, not fear</a:t>
            </a:r>
            <a:r>
              <a:rPr lang="en-GB" sz="1100"/>
              <a:t>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351" name="Google Shape;351;p45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5"/>
          <p:cNvSpPr txBox="1"/>
          <p:nvPr/>
        </p:nvSpPr>
        <p:spPr>
          <a:xfrm>
            <a:off x="3240100" y="1017725"/>
            <a:ext cx="3000000" cy="3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How to practice it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Positive self-talk:</a:t>
            </a:r>
            <a:r>
              <a:rPr lang="en-GB" sz="1100">
                <a:solidFill>
                  <a:schemeClr val="dk1"/>
                </a:solidFill>
              </a:rPr>
              <a:t> “This is my moment”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Focus on process, not outcome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Visualisation:</a:t>
            </a:r>
            <a:r>
              <a:rPr lang="en-GB" sz="1100">
                <a:solidFill>
                  <a:schemeClr val="dk1"/>
                </a:solidFill>
              </a:rPr>
              <a:t> Picture yourself performing under pressure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Team mindset:</a:t>
            </a:r>
            <a:r>
              <a:rPr lang="en-GB" sz="1100">
                <a:solidFill>
                  <a:schemeClr val="dk1"/>
                </a:solidFill>
              </a:rPr>
              <a:t> Encourage teammates to see challenges as opportunities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Mindset is </a:t>
            </a:r>
            <a:r>
              <a:rPr b="1" lang="en-GB" sz="1100">
                <a:solidFill>
                  <a:schemeClr val="dk1"/>
                </a:solidFill>
              </a:rPr>
              <a:t>trainable, like a muscle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53" name="Google Shape;353;p45"/>
          <p:cNvSpPr txBox="1"/>
          <p:nvPr/>
        </p:nvSpPr>
        <p:spPr>
          <a:xfrm>
            <a:off x="6073825" y="1465000"/>
            <a:ext cx="30000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When do you feel pressure most positively?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Before a big match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🗣 When teammates rely on you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⚡ During tight score situations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54" name="Google Shape;354;p45"/>
          <p:cNvSpPr txBox="1"/>
          <p:nvPr/>
        </p:nvSpPr>
        <p:spPr>
          <a:xfrm>
            <a:off x="6073825" y="4095575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Adapted from: Fletcher, D., &amp; Sarkar, M. (2012). </a:t>
            </a:r>
            <a:r>
              <a:rPr i="1" lang="en-GB" sz="1100">
                <a:solidFill>
                  <a:schemeClr val="dk1"/>
                </a:solidFill>
              </a:rPr>
              <a:t>A grounded theory of psychological resilience in Olympic champions.</a:t>
            </a:r>
            <a:r>
              <a:rPr lang="en-GB" sz="1100">
                <a:solidFill>
                  <a:schemeClr val="dk1"/>
                </a:solidFill>
              </a:rPr>
              <a:t> Psychology of Sport and Exercise, 13(5), 669–678.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Rosario Medium"/>
                <a:ea typeface="Rosario Medium"/>
                <a:cs typeface="Rosario Medium"/>
                <a:sym typeface="Rosario Medium"/>
              </a:rPr>
              <a:t>Warning Signs your Cracking</a:t>
            </a:r>
            <a:endParaRPr sz="33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360" name="Google Shape;360;p46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6"/>
          <p:cNvSpPr txBox="1"/>
          <p:nvPr/>
        </p:nvSpPr>
        <p:spPr>
          <a:xfrm>
            <a:off x="0" y="1315275"/>
            <a:ext cx="3000000" cy="1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1 (Hook)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Ever felt like you’re about to lose control on the pitch?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Your body and mind give </a:t>
            </a:r>
            <a:r>
              <a:rPr b="1" lang="en-GB" sz="1100">
                <a:solidFill>
                  <a:schemeClr val="dk1"/>
                </a:solidFill>
              </a:rPr>
              <a:t>subtle warning signs</a:t>
            </a:r>
            <a:r>
              <a:rPr lang="en-GB" sz="1100">
                <a:solidFill>
                  <a:schemeClr val="dk1"/>
                </a:solidFill>
              </a:rPr>
              <a:t>… if you know what to look for. 👀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62" name="Google Shape;362;p46"/>
          <p:cNvSpPr txBox="1"/>
          <p:nvPr/>
        </p:nvSpPr>
        <p:spPr>
          <a:xfrm>
            <a:off x="2887200" y="1260775"/>
            <a:ext cx="30000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🧠 </a:t>
            </a:r>
            <a:r>
              <a:rPr b="1" lang="en-GB" sz="1100">
                <a:solidFill>
                  <a:schemeClr val="dk1"/>
                </a:solidFill>
              </a:rPr>
              <a:t>What it means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Being “cracked” is when </a:t>
            </a:r>
            <a:r>
              <a:rPr b="1" lang="en-GB" sz="1100">
                <a:solidFill>
                  <a:schemeClr val="dk1"/>
                </a:solidFill>
              </a:rPr>
              <a:t>pressure or stress starts affecting your performance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Focus drops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Decisions get slower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Confidence wavers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Recognising these signs early can </a:t>
            </a:r>
            <a:r>
              <a:rPr b="1" lang="en-GB" sz="1100">
                <a:solidFill>
                  <a:schemeClr val="dk1"/>
                </a:solidFill>
              </a:rPr>
              <a:t>help you regain control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5887200" y="1400825"/>
            <a:ext cx="3000000" cy="3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⚡ </a:t>
            </a:r>
            <a:r>
              <a:rPr b="1" lang="en-GB" sz="1100">
                <a:solidFill>
                  <a:schemeClr val="dk1"/>
                </a:solidFill>
              </a:rPr>
              <a:t>Common warning signs in LGFA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Overthinking simple skills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Hesitating on passes or shots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Feeling tense or stiff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Losing team communication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Emotional spikes (frustration, panic)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These are signals that </a:t>
            </a:r>
            <a:r>
              <a:rPr b="1" lang="en-GB" sz="1100">
                <a:solidFill>
                  <a:schemeClr val="dk1"/>
                </a:solidFill>
              </a:rPr>
              <a:t>pressure is impacting performance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Rosario Medium"/>
                <a:ea typeface="Rosario Medium"/>
                <a:cs typeface="Rosario Medium"/>
                <a:sym typeface="Rosario Medium"/>
              </a:rPr>
              <a:t>Warning Signs your Cracking</a:t>
            </a:r>
            <a:endParaRPr sz="3300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369" name="Google Shape;369;p47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7"/>
          <p:cNvSpPr txBox="1"/>
          <p:nvPr/>
        </p:nvSpPr>
        <p:spPr>
          <a:xfrm>
            <a:off x="72000" y="1260775"/>
            <a:ext cx="30000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⚽ </a:t>
            </a:r>
            <a:r>
              <a:rPr b="1" lang="en-GB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If unnoticed, these signs can lead to: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❌ Mistakes piling up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Negative momentum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❌ Team performance decline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Early recognition is </a:t>
            </a:r>
            <a:r>
              <a:rPr b="1" lang="en-GB" sz="1100">
                <a:solidFill>
                  <a:schemeClr val="dk1"/>
                </a:solidFill>
              </a:rPr>
              <a:t>key to staying in control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1" name="Google Shape;371;p47"/>
          <p:cNvSpPr txBox="1"/>
          <p:nvPr/>
        </p:nvSpPr>
        <p:spPr>
          <a:xfrm>
            <a:off x="3072000" y="1192950"/>
            <a:ext cx="30000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🔥 </a:t>
            </a:r>
            <a:r>
              <a:rPr b="1" lang="en-GB" sz="1100">
                <a:solidFill>
                  <a:schemeClr val="dk1"/>
                </a:solidFill>
              </a:rPr>
              <a:t>How to respond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When you notice warning signs: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✔️ Take a deep breath and reset focus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Stick to your routine and mental skills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Positive self-talk: “One play at a time”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✔️ Lean on team support and communication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➡️ Small adjustments </a:t>
            </a:r>
            <a:r>
              <a:rPr b="1" lang="en-GB" sz="1100">
                <a:solidFill>
                  <a:schemeClr val="dk1"/>
                </a:solidFill>
              </a:rPr>
              <a:t>can prevent a bigger performance drop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2" name="Google Shape;372;p47"/>
          <p:cNvSpPr txBox="1"/>
          <p:nvPr/>
        </p:nvSpPr>
        <p:spPr>
          <a:xfrm>
            <a:off x="5986875" y="1379450"/>
            <a:ext cx="30000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Slide 6 (Engagement)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💬 </a:t>
            </a:r>
            <a:r>
              <a:rPr b="1" lang="en-GB" sz="1100">
                <a:solidFill>
                  <a:schemeClr val="dk1"/>
                </a:solidFill>
              </a:rPr>
              <a:t>Match-day 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Which warning sign do you notice first in yourself?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🧘 Tension/stiffness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🗣 Poor communication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⚡ Overthinking plays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😤 Emotional spikes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👇 Comment below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#MindTheGael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3" name="Google Shape;373;p47"/>
          <p:cNvSpPr txBox="1"/>
          <p:nvPr/>
        </p:nvSpPr>
        <p:spPr>
          <a:xfrm>
            <a:off x="6072000" y="4149025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Adapted from: Gucciardi, D. F., &amp; Gordon, S. (2009). </a:t>
            </a:r>
            <a:r>
              <a:rPr i="1" lang="en-GB" sz="1100">
                <a:solidFill>
                  <a:schemeClr val="dk1"/>
                </a:solidFill>
              </a:rPr>
              <a:t>Mental toughness in sport: Developments, theory, and practice.</a:t>
            </a:r>
            <a:r>
              <a:rPr lang="en-GB" sz="1100">
                <a:solidFill>
                  <a:schemeClr val="dk1"/>
                </a:solidFill>
              </a:rPr>
              <a:t> Routledge.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8"/>
          <p:cNvSpPr txBox="1"/>
          <p:nvPr>
            <p:ph type="title"/>
          </p:nvPr>
        </p:nvSpPr>
        <p:spPr>
          <a:xfrm>
            <a:off x="68075" y="165300"/>
            <a:ext cx="71148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78">
                <a:latin typeface="Rosario Medium"/>
                <a:ea typeface="Rosario Medium"/>
                <a:cs typeface="Rosario Medium"/>
                <a:sym typeface="Rosario Medium"/>
              </a:rPr>
              <a:t>Choking Under Pressure (Baumeister, 1984; Mesagno &amp; Beckmann, 2017)</a:t>
            </a:r>
            <a:endParaRPr sz="2078">
              <a:latin typeface="Rosario Medium"/>
              <a:ea typeface="Rosario Medium"/>
              <a:cs typeface="Rosario Medium"/>
              <a:sym typeface="Rosari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379" name="Google Shape;379;p48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8"/>
          <p:cNvSpPr txBox="1"/>
          <p:nvPr/>
        </p:nvSpPr>
        <p:spPr>
          <a:xfrm>
            <a:off x="0" y="1315275"/>
            <a:ext cx="3000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1: Title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 sz="1100">
                <a:solidFill>
                  <a:schemeClr val="dk1"/>
                </a:solidFill>
              </a:rPr>
              <a:t>Choking Under Pressure in Ladies Gaelic Football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What happens when high-pressure moments disrupt performance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2887200" y="1260775"/>
            <a:ext cx="3000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2: Theory 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High-pressure → overthinking automatic skills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Driven by self-focus, anxiety, and fear of evaluation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82" name="Google Shape;382;p48"/>
          <p:cNvSpPr txBox="1"/>
          <p:nvPr/>
        </p:nvSpPr>
        <p:spPr>
          <a:xfrm>
            <a:off x="5887200" y="1400825"/>
            <a:ext cx="30000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3: Application to Ladies Gaelic Football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High-stakes moments: free-taking, penalty kicks, final-minute passes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Self-focus can interfere with timing and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>
            <p:ph type="title"/>
          </p:nvPr>
        </p:nvSpPr>
        <p:spPr>
          <a:xfrm>
            <a:off x="194400" y="201950"/>
            <a:ext cx="65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941"/>
              <a:buFont typeface="Arial"/>
              <a:buNone/>
            </a:pPr>
            <a:r>
              <a:rPr lang="en-GB" sz="2078">
                <a:latin typeface="Rosario Medium"/>
                <a:ea typeface="Rosario Medium"/>
                <a:cs typeface="Rosario Medium"/>
                <a:sym typeface="Rosario Medium"/>
              </a:rPr>
              <a:t>Choking Under Pressure (Baumeister, 1984; Mesagno &amp; Beckmann, 2017)</a:t>
            </a:r>
            <a:endParaRPr/>
          </a:p>
        </p:txBody>
      </p:sp>
      <p:pic>
        <p:nvPicPr>
          <p:cNvPr id="388" name="Google Shape;388;p49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9"/>
          <p:cNvSpPr txBox="1"/>
          <p:nvPr/>
        </p:nvSpPr>
        <p:spPr>
          <a:xfrm>
            <a:off x="72000" y="1260775"/>
            <a:ext cx="30000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4: Example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Forward hesitates during a county final free, misses goal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Confidence drops for subsequent plays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90" name="Google Shape;390;p49"/>
          <p:cNvSpPr txBox="1"/>
          <p:nvPr/>
        </p:nvSpPr>
        <p:spPr>
          <a:xfrm>
            <a:off x="3072000" y="1192950"/>
            <a:ext cx="30000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5: Coaching Tips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Pre-performance routines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Pressure simulation in training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One-play-at-a-time mindset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1" name="Google Shape;391;p49"/>
          <p:cNvSpPr txBox="1"/>
          <p:nvPr/>
        </p:nvSpPr>
        <p:spPr>
          <a:xfrm>
            <a:off x="5986875" y="1379450"/>
            <a:ext cx="30000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6: Takeaway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Choking is a psychological interference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Preparation, focus, and exposure reduce risk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2" name="Google Shape;392;p49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0"/>
          <p:cNvSpPr txBox="1"/>
          <p:nvPr>
            <p:ph type="title"/>
          </p:nvPr>
        </p:nvSpPr>
        <p:spPr>
          <a:xfrm>
            <a:off x="149275" y="201950"/>
            <a:ext cx="674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Attention Control Theory (Eysenck et al., 2007)</a:t>
            </a:r>
            <a:endParaRPr/>
          </a:p>
        </p:txBody>
      </p:sp>
      <p:pic>
        <p:nvPicPr>
          <p:cNvPr id="398" name="Google Shape;398;p50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0"/>
          <p:cNvSpPr txBox="1"/>
          <p:nvPr/>
        </p:nvSpPr>
        <p:spPr>
          <a:xfrm>
            <a:off x="0" y="1315275"/>
            <a:ext cx="3000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1: Title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 sz="1100">
                <a:solidFill>
                  <a:schemeClr val="dk1"/>
                </a:solidFill>
              </a:rPr>
              <a:t>Attention Control Theory in Ladies Gaelic Football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How anxiety affects focus under pressure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00" name="Google Shape;400;p50"/>
          <p:cNvSpPr txBox="1"/>
          <p:nvPr/>
        </p:nvSpPr>
        <p:spPr>
          <a:xfrm>
            <a:off x="2887200" y="1260775"/>
            <a:ext cx="30000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2: Theory 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Anxiety reduces processing efficiency and working memory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Causes attention bias toward threat, reduced goal-directed focus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01" name="Google Shape;401;p50"/>
          <p:cNvSpPr txBox="1"/>
          <p:nvPr/>
        </p:nvSpPr>
        <p:spPr>
          <a:xfrm>
            <a:off x="5887200" y="1400825"/>
            <a:ext cx="30000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3: Application to Ladies Gaelic Football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Players focus on opponents or mistakes instead of the play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Leads to slower reactions, missed passes, tactical errors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1"/>
          <p:cNvSpPr txBox="1"/>
          <p:nvPr>
            <p:ph type="title"/>
          </p:nvPr>
        </p:nvSpPr>
        <p:spPr>
          <a:xfrm>
            <a:off x="176350" y="201950"/>
            <a:ext cx="606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Attention Control Theory (Eysenck et al., 2007)</a:t>
            </a:r>
            <a:endParaRPr/>
          </a:p>
        </p:txBody>
      </p:sp>
      <p:pic>
        <p:nvPicPr>
          <p:cNvPr id="407" name="Google Shape;407;p51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1"/>
          <p:cNvSpPr txBox="1"/>
          <p:nvPr/>
        </p:nvSpPr>
        <p:spPr>
          <a:xfrm>
            <a:off x="72000" y="1260775"/>
            <a:ext cx="3000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4: Example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Midfielder hesitates switching play due to anxiety about defenders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09" name="Google Shape;409;p51"/>
          <p:cNvSpPr txBox="1"/>
          <p:nvPr/>
        </p:nvSpPr>
        <p:spPr>
          <a:xfrm>
            <a:off x="3072000" y="1192950"/>
            <a:ext cx="3000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5: Coaching Tips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Focus drills under pressure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Cue words or visual markers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Positive self-talk strategies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410" name="Google Shape;410;p51"/>
          <p:cNvSpPr txBox="1"/>
          <p:nvPr/>
        </p:nvSpPr>
        <p:spPr>
          <a:xfrm>
            <a:off x="5986875" y="1379450"/>
            <a:ext cx="30000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6: Takeaway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Goal-directed focus helps resist distraction from anxiety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1" name="Google Shape;411;p51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2"/>
          <p:cNvSpPr txBox="1"/>
          <p:nvPr>
            <p:ph type="title"/>
          </p:nvPr>
        </p:nvSpPr>
        <p:spPr>
          <a:xfrm>
            <a:off x="122200" y="201950"/>
            <a:ext cx="644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Processing Efficiency Theory (Eysenck &amp; Calvo, 1992)</a:t>
            </a:r>
            <a:endParaRPr/>
          </a:p>
        </p:txBody>
      </p:sp>
      <p:pic>
        <p:nvPicPr>
          <p:cNvPr id="417" name="Google Shape;417;p52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2"/>
          <p:cNvSpPr txBox="1"/>
          <p:nvPr/>
        </p:nvSpPr>
        <p:spPr>
          <a:xfrm>
            <a:off x="0" y="1315275"/>
            <a:ext cx="3000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1: Title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 sz="1100">
                <a:solidFill>
                  <a:schemeClr val="dk1"/>
                </a:solidFill>
              </a:rPr>
              <a:t>Processing Efficiency Theory in Ladies Gaelic Football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9" name="Google Shape;419;p52"/>
          <p:cNvSpPr txBox="1"/>
          <p:nvPr/>
        </p:nvSpPr>
        <p:spPr>
          <a:xfrm>
            <a:off x="2887200" y="1260775"/>
            <a:ext cx="30000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2: Theory 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Anxiety increases cognitive effort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Performance may stay intact, but at greater mental cost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20" name="Google Shape;420;p52"/>
          <p:cNvSpPr txBox="1"/>
          <p:nvPr/>
        </p:nvSpPr>
        <p:spPr>
          <a:xfrm>
            <a:off x="5887200" y="1400825"/>
            <a:ext cx="30000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3: Application to Ladies Gaelic Football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Players perform actions but decision-making slows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Mental fatigue can accumulate under prolonged pressure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3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Processing Efficiency Theory (Eysenck &amp; Calvo, 1992)</a:t>
            </a:r>
            <a:endParaRPr/>
          </a:p>
        </p:txBody>
      </p:sp>
      <p:pic>
        <p:nvPicPr>
          <p:cNvPr id="426" name="Google Shape;426;p53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3"/>
          <p:cNvSpPr txBox="1"/>
          <p:nvPr/>
        </p:nvSpPr>
        <p:spPr>
          <a:xfrm>
            <a:off x="72000" y="1260775"/>
            <a:ext cx="3000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4: Example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Defender intercepts pass but hesitates distributing the ball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28" name="Google Shape;428;p53"/>
          <p:cNvSpPr txBox="1"/>
          <p:nvPr/>
        </p:nvSpPr>
        <p:spPr>
          <a:xfrm>
            <a:off x="3072000" y="1192950"/>
            <a:ext cx="30000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5: Coaching Tips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Simplify tactical cues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Train decision-making under fatigue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 structured routines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29" name="Google Shape;429;p53"/>
          <p:cNvSpPr txBox="1"/>
          <p:nvPr/>
        </p:nvSpPr>
        <p:spPr>
          <a:xfrm>
            <a:off x="5986875" y="1379450"/>
            <a:ext cx="30000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6: Takeaway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Anxiety reduces efficiency; training should optimize cognitive resources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30" name="Google Shape;430;p53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Biopsychosocial Model of Challenge &amp; Threat (Blascovich &amp; Mendes, 2000)</a:t>
            </a:r>
            <a:endParaRPr/>
          </a:p>
        </p:txBody>
      </p:sp>
      <p:pic>
        <p:nvPicPr>
          <p:cNvPr id="436" name="Google Shape;436;p54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54"/>
          <p:cNvSpPr txBox="1"/>
          <p:nvPr/>
        </p:nvSpPr>
        <p:spPr>
          <a:xfrm>
            <a:off x="72000" y="1260775"/>
            <a:ext cx="3000000" cy="21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1: Title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 sz="1100">
                <a:solidFill>
                  <a:schemeClr val="dk1"/>
                </a:solidFill>
              </a:rPr>
              <a:t>BPS Model in Ladies Gaelic Football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How perceived resources vs demands influence performance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38" name="Google Shape;438;p54"/>
          <p:cNvSpPr txBox="1"/>
          <p:nvPr/>
        </p:nvSpPr>
        <p:spPr>
          <a:xfrm>
            <a:off x="3072000" y="1192950"/>
            <a:ext cx="3000000" cy="2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2: Theory 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Challenge: resources ≥ demands → positive arousal, proactive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Threat: demands &gt; resources → negative arousal, cautious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39" name="Google Shape;439;p54"/>
          <p:cNvSpPr txBox="1"/>
          <p:nvPr/>
        </p:nvSpPr>
        <p:spPr>
          <a:xfrm>
            <a:off x="5986875" y="1379450"/>
            <a:ext cx="30000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3: Application to Ladies Gaelic Football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Prepared teams perceive challenge → confident, cohesive play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Unprepared teams perceive threat → defensive, hesitant play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40" name="Google Shape;440;p54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Biopsychosocial Model of Challenge &amp; Threat (Blascovich &amp; Mendes, 2000)</a:t>
            </a:r>
            <a:endParaRPr/>
          </a:p>
        </p:txBody>
      </p:sp>
      <p:pic>
        <p:nvPicPr>
          <p:cNvPr id="446" name="Google Shape;446;p55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5"/>
          <p:cNvSpPr txBox="1"/>
          <p:nvPr/>
        </p:nvSpPr>
        <p:spPr>
          <a:xfrm>
            <a:off x="72000" y="1260775"/>
            <a:ext cx="30000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4: Example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Midfielders press aggressively in semi-final (challenge)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Defensive line withdraws when unprepared (threat)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448" name="Google Shape;448;p55"/>
          <p:cNvSpPr txBox="1"/>
          <p:nvPr/>
        </p:nvSpPr>
        <p:spPr>
          <a:xfrm>
            <a:off x="3072000" y="1192950"/>
            <a:ext cx="3000000" cy="21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5: Coaching Tips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Positive appraisal strategies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Mental rehearsal and visualization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Highlight controllable factors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49" name="Google Shape;449;p55"/>
          <p:cNvSpPr txBox="1"/>
          <p:nvPr/>
        </p:nvSpPr>
        <p:spPr>
          <a:xfrm>
            <a:off x="5986875" y="1379450"/>
            <a:ext cx="30000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6: Takeaway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Perception of challenge vs threat shapes physiological and cognitive responses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50" name="Google Shape;450;p55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6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 vs Challenge Response (Jones et al., 2009)</a:t>
            </a:r>
            <a:endParaRPr/>
          </a:p>
        </p:txBody>
      </p:sp>
      <p:pic>
        <p:nvPicPr>
          <p:cNvPr id="456" name="Google Shape;456;p56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6"/>
          <p:cNvSpPr txBox="1"/>
          <p:nvPr/>
        </p:nvSpPr>
        <p:spPr>
          <a:xfrm>
            <a:off x="72000" y="1260775"/>
            <a:ext cx="3000000" cy="20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1: Title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 sz="1100">
                <a:solidFill>
                  <a:schemeClr val="dk1"/>
                </a:solidFill>
              </a:rPr>
              <a:t>Threat vs Challenge in Ladies Gaelic Football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58" name="Google Shape;458;p56"/>
          <p:cNvSpPr txBox="1"/>
          <p:nvPr/>
        </p:nvSpPr>
        <p:spPr>
          <a:xfrm>
            <a:off x="3072000" y="1192950"/>
            <a:ext cx="3000000" cy="2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2: Theory 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Threat → narrowed attention, stress response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Challenge → adaptive arousal, proactive behaviors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59" name="Google Shape;459;p56"/>
          <p:cNvSpPr txBox="1"/>
          <p:nvPr/>
        </p:nvSpPr>
        <p:spPr>
          <a:xfrm>
            <a:off x="5986875" y="1379450"/>
            <a:ext cx="30000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3: Application to Ladies Gaelic Football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Match context triggers response: scoreboard, importance, crowd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Challenge enhances decision-making; threat increases mistakes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0" name="Google Shape;460;p56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7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 vs Challenge Response (Jones et al., 2009)</a:t>
            </a:r>
            <a:endParaRPr/>
          </a:p>
        </p:txBody>
      </p:sp>
      <p:pic>
        <p:nvPicPr>
          <p:cNvPr id="466" name="Google Shape;466;p57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7"/>
          <p:cNvSpPr txBox="1"/>
          <p:nvPr/>
        </p:nvSpPr>
        <p:spPr>
          <a:xfrm>
            <a:off x="72000" y="1260775"/>
            <a:ext cx="3000000" cy="21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4: Example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Trailing by 2 points: aggressive offensive play (challenge) vs cautious (threat)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8" name="Google Shape;468;p57"/>
          <p:cNvSpPr txBox="1"/>
          <p:nvPr/>
        </p:nvSpPr>
        <p:spPr>
          <a:xfrm>
            <a:off x="3072000" y="1192950"/>
            <a:ext cx="3000000" cy="2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5: Coaching Tips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Focus on controllable factors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Confidence through preparation and routines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Simulate high-pressure scenarios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9" name="Google Shape;469;p57"/>
          <p:cNvSpPr txBox="1"/>
          <p:nvPr/>
        </p:nvSpPr>
        <p:spPr>
          <a:xfrm>
            <a:off x="5986875" y="1379450"/>
            <a:ext cx="30000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6: Takeaway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Challenge mindset improves coordination and cognition under pressure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70" name="Google Shape;470;p57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8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Cognitive Narrowing Under Stress (Easterbrook, 1959; Oudejans &amp; Pijpers, 2009)</a:t>
            </a:r>
            <a:endParaRPr/>
          </a:p>
        </p:txBody>
      </p:sp>
      <p:pic>
        <p:nvPicPr>
          <p:cNvPr id="476" name="Google Shape;476;p58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8"/>
          <p:cNvSpPr txBox="1"/>
          <p:nvPr/>
        </p:nvSpPr>
        <p:spPr>
          <a:xfrm>
            <a:off x="72000" y="1260775"/>
            <a:ext cx="3000000" cy="20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Slide 1: Title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 sz="1100">
                <a:solidFill>
                  <a:schemeClr val="dk1"/>
                </a:solidFill>
              </a:rPr>
              <a:t>Cognitive Narrowing in Ladies Gaelic Football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78" name="Google Shape;478;p58"/>
          <p:cNvSpPr txBox="1"/>
          <p:nvPr/>
        </p:nvSpPr>
        <p:spPr>
          <a:xfrm>
            <a:off x="3072000" y="1192950"/>
            <a:ext cx="3000000" cy="2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2: Theory 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Stress → attention narrows to central cues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Simple tasks may improve; complex decisions may fail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79" name="Google Shape;479;p58"/>
          <p:cNvSpPr txBox="1"/>
          <p:nvPr/>
        </p:nvSpPr>
        <p:spPr>
          <a:xfrm>
            <a:off x="5986875" y="1379450"/>
            <a:ext cx="30000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3: Application to Ladies Gaelic Football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Focus on ball or opponent, ignore teammates/spatial options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Defensive and attacking coordination suffers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480" name="Google Shape;480;p58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9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Cognitive Narrowing Under Stress (Easterbrook, 1959; Oudejans &amp; Pijpers, 2009)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6" name="Google Shape;486;p59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9"/>
          <p:cNvSpPr txBox="1"/>
          <p:nvPr/>
        </p:nvSpPr>
        <p:spPr>
          <a:xfrm>
            <a:off x="72000" y="1260775"/>
            <a:ext cx="3000000" cy="20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4: Example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Midfielder dribbles under pressure, misses open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88" name="Google Shape;488;p59"/>
          <p:cNvSpPr txBox="1"/>
          <p:nvPr/>
        </p:nvSpPr>
        <p:spPr>
          <a:xfrm>
            <a:off x="3072000" y="1192950"/>
            <a:ext cx="3000000" cy="2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5: Coaching Tips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Peripheral awareness drills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Small-sided games under pressure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Mental cues to maintain field awareness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89" name="Google Shape;489;p59"/>
          <p:cNvSpPr txBox="1"/>
          <p:nvPr/>
        </p:nvSpPr>
        <p:spPr>
          <a:xfrm>
            <a:off x="5986875" y="1379450"/>
            <a:ext cx="30000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6: Takeaway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Training should expand attention under stress for better situational awareness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490" name="Google Shape;490;p59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0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Errors in High-Intensity Moments (Plessner &amp; Haar, 2006)</a:t>
            </a:r>
            <a:endParaRPr/>
          </a:p>
        </p:txBody>
      </p:sp>
      <p:pic>
        <p:nvPicPr>
          <p:cNvPr id="496" name="Google Shape;496;p60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0"/>
          <p:cNvSpPr txBox="1"/>
          <p:nvPr/>
        </p:nvSpPr>
        <p:spPr>
          <a:xfrm>
            <a:off x="72000" y="1260775"/>
            <a:ext cx="30000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1: Title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 sz="1100">
                <a:solidFill>
                  <a:schemeClr val="dk1"/>
                </a:solidFill>
              </a:rPr>
              <a:t>Decision Errors in Ladies Gaelic Football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98" name="Google Shape;498;p60"/>
          <p:cNvSpPr txBox="1"/>
          <p:nvPr/>
        </p:nvSpPr>
        <p:spPr>
          <a:xfrm>
            <a:off x="3072000" y="1192950"/>
            <a:ext cx="3000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2: Theory Overview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Stress and high arousal → cognitive overload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Errors increase due to narrowed attention and reduced working memory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99" name="Google Shape;499;p60"/>
          <p:cNvSpPr txBox="1"/>
          <p:nvPr/>
        </p:nvSpPr>
        <p:spPr>
          <a:xfrm>
            <a:off x="5986875" y="1379450"/>
            <a:ext cx="30000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3: Application to Ladies Gaelic Football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Final passes, defensive decisions, free-taking are most vulnerable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Even experienced players make misjudgments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0" name="Google Shape;500;p60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FE4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1"/>
          <p:cNvSpPr txBox="1"/>
          <p:nvPr>
            <p:ph type="title"/>
          </p:nvPr>
        </p:nvSpPr>
        <p:spPr>
          <a:xfrm>
            <a:off x="72000" y="165300"/>
            <a:ext cx="63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Errors in High-Intensity Moments (Plessner &amp; Haar, 2006)</a:t>
            </a:r>
            <a:endParaRPr/>
          </a:p>
        </p:txBody>
      </p:sp>
      <p:pic>
        <p:nvPicPr>
          <p:cNvPr id="506" name="Google Shape;506;p61" title="MTG_col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050" y="201962"/>
            <a:ext cx="1866824" cy="10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61"/>
          <p:cNvSpPr txBox="1"/>
          <p:nvPr/>
        </p:nvSpPr>
        <p:spPr>
          <a:xfrm>
            <a:off x="72000" y="1260775"/>
            <a:ext cx="3000000" cy="20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4: Example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Defender passes backward under pressure, allowing opponent to score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8" name="Google Shape;508;p61"/>
          <p:cNvSpPr txBox="1"/>
          <p:nvPr/>
        </p:nvSpPr>
        <p:spPr>
          <a:xfrm>
            <a:off x="3072000" y="1192950"/>
            <a:ext cx="3000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5: Coaching Tips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Practice under high-pressure conditions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Decision-making routines and default options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Video analysis to reinforce learning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9" name="Google Shape;509;p61"/>
          <p:cNvSpPr txBox="1"/>
          <p:nvPr/>
        </p:nvSpPr>
        <p:spPr>
          <a:xfrm>
            <a:off x="5986875" y="1379450"/>
            <a:ext cx="30000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Slide 6: Takeaway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Decision errors are natural but can be minimized with stress-exposure training and structured routines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0" name="Google Shape;510;p61"/>
          <p:cNvSpPr txBox="1"/>
          <p:nvPr/>
        </p:nvSpPr>
        <p:spPr>
          <a:xfrm>
            <a:off x="6072000" y="41490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